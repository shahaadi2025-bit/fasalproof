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bfb68a4b-dca5-a3dd-1bcb-7c25b0a9320d}">
          <p14:sldIdLst>
            <p14:sldId id="256"/>
          </p14:sldIdLst>
        </p14:section>
        <p14:section name="Problem" id="{f1c02239-e1d0-eafc-23c8-61f356db0c5e}">
          <p14:sldIdLst>
            <p14:sldId id="257"/>
          </p14:sldIdLst>
        </p14:section>
        <p14:section name="Solution" id="{46b27bee-bfa8-76cb-4f5a-f9914847c499}">
          <p14:sldIdLst>
            <p14:sldId id="258"/>
          </p14:sldIdLst>
        </p14:section>
        <p14:section name="Tech" id="{b2f79ee9-0dcd-2a32-7cbe-07562c642e31}">
          <p14:sldIdLst>
            <p14:sldId id="259"/>
            <p14:sldId id="260"/>
          </p14:sldIdLst>
        </p14:section>
        <p14:section name="Trust" id="{e9d7638d-5d2e-d4c4-7e36-3567cda61708}">
          <p14:sldIdLst>
            <p14:sldId id="261"/>
          </p14:sldIdLst>
        </p14:section>
        <p14:section name="Close" id="{2c817e53-3376-5596-b047-43ec7daf854d}">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problem in one sentence: after a flood or hailstorm a farmer has photos, and a short deadline. FasalProof turns free satellite images, weather history and the claim rules into evidence and a claim kit. Say up front that it is supporting evidence, not an official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the deadline, the weak evidence, and the confusing rules. Keep this under 30 seconds. The 72-hour figure is the Ministry of Agriculture rule for localised calamities.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goes here: type a sentence to the assistant, run the analysis, then open Overview, Signal, Damage map, Claim and Claim kit. Use a real past event and a clear-sky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open, so cost per analysis is zero. Emphasise that the statistics are standard and explainable: robust regression for the expected healthy curve, a bootstrap for the interval, change-point detection for the date, k-means for the damage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card. If asked about accuracy: no figure is claimed until validation on documented events is complete; every result shows its confidence interval and the number of scenes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 judge does. Spot checks on arbitrary no-event dates showed 14 to 19 percent apparent loss, which is why losses below about 25 percent are not treated as damage. The validation script and table template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one-line summary and invite them to open the site. Mention the roadmap in one breath. Be ready for: accuracy, cloud cover in monsoon, why free data, and what the tool cannot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10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530352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743200"/>
            <a:ext cx="5303520" cy="5486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800600"/>
            <a:ext cx="3657600" cy="228600"/>
          </a:xfrm>
          <a:prstGeom prst="rect">
            <a:avLst/>
          </a:prstGeom>
          <a:noFill/>
          <a:ln/>
        </p:spPr>
        <p:txBody>
          <a:bodyPr wrap="square" lIns="0" tIns="0" rIns="0" bIns="0" rtlCol="0" anchor="ctr"/>
          <a:lstStyle/>
          <a:p>
            <a:pPr indent="0" marL="0">
              <a:buNone/>
            </a:pPr>
            <a:r>
              <a:rPr lang="en-US" sz="1000" dirty="0">
                <a:solidFill>
                  <a:schemeClr val="tx2"/>
                </a:solidFill>
              </a:rPr>
              <a:t>FasalProof · VORTEX 2K26</a:t>
            </a:r>
            <a:endParaRPr lang="en-US" sz="1000" dirty="0"/>
          </a:p>
        </p:txBody>
      </p:sp>
      <p:sp>
        <p:nvSpPr>
          <p:cNvPr id="3" name="Text 1"/>
          <p:cNvSpPr/>
          <p:nvPr>
            <p:ph idx="101" type="title" hasCustomPrompt="1"/>
          </p:nvPr>
        </p:nvSpPr>
        <p:spPr>
          <a:xfrm>
            <a:off x="548640" y="411480"/>
            <a:ext cx="8046720"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shahaadi2025-bit.github.io/fasalproof/" TargetMode="External"/><Relationship Id="rId2" Type="http://schemas.openxmlformats.org/officeDocument/2006/relationships/image" Target="../media/image-7-1.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5303520" cy="1371600"/>
          </a:xfrm>
          <a:prstGeom prst="rect">
            <a:avLst/>
          </a:prstGeom>
          <a:noFill/>
          <a:ln/>
        </p:spPr>
        <p:txBody>
          <a:bodyPr wrap="square" lIns="0" tIns="0" rIns="0" bIns="0" rtlCol="0" anchor="t"/>
          <a:lstStyle/>
          <a:p>
            <a:pPr algn="l" indent="0" marL="0">
              <a:buNone/>
            </a:pPr>
            <a:r>
              <a:rPr lang="en-US" sz="4000" b="1" dirty="0">
                <a:solidFill>
                  <a:schemeClr val="bg1"/>
                </a:solidFill>
              </a:rPr>
              <a:t>FasalProof</a:t>
            </a:r>
            <a:endParaRPr lang="en-US" sz="4000" dirty="0"/>
          </a:p>
        </p:txBody>
      </p:sp>
      <p:sp>
        <p:nvSpPr>
          <p:cNvPr id="3" name="Text 0"/>
          <p:cNvSpPr/>
          <p:nvPr>
            <p:ph idx="101" type="body" hasCustomPrompt="1"/>
          </p:nvPr>
        </p:nvSpPr>
        <p:spPr>
          <a:xfrm>
            <a:off x="548640" y="2743200"/>
            <a:ext cx="5303520" cy="548640"/>
          </a:xfrm>
          <a:prstGeom prst="rect">
            <a:avLst/>
          </a:prstGeom>
          <a:noFill/>
          <a:ln/>
        </p:spPr>
        <p:txBody>
          <a:bodyPr wrap="square" lIns="0" tIns="0" rIns="0" bIns="0" rtlCol="0"/>
          <a:lstStyle/>
          <a:p>
            <a:pPr algn="l" indent="0" marL="0">
              <a:buNone/>
            </a:pPr>
            <a:r>
              <a:rPr lang="en-US" sz="1800" dirty="0">
                <a:solidFill>
                  <a:schemeClr val="bg2"/>
                </a:solidFill>
              </a:rPr>
              <a:t>Prove your crop loss from space.</a:t>
            </a:r>
            <a:endParaRPr lang="en-US" sz="1800" dirty="0"/>
          </a:p>
        </p:txBody>
      </p:sp>
      <p:sp>
        <p:nvSpPr>
          <p:cNvPr id="4" name="Text 2"/>
          <p:cNvSpPr txBox="1"/>
          <p:nvPr/>
        </p:nvSpPr>
        <p:spPr>
          <a:xfrm>
            <a:off x="548640" y="3383280"/>
            <a:ext cx="5120640" cy="731520"/>
          </a:xfrm>
          <a:prstGeom prst="rect">
            <a:avLst/>
          </a:prstGeom>
          <a:noFill/>
          <a:ln/>
        </p:spPr>
        <p:txBody>
          <a:bodyPr wrap="square" lIns="0" tIns="0" rIns="0" bIns="0" rtlCol="0" anchor="ctr"/>
          <a:lstStyle/>
          <a:p>
            <a:pPr indent="0" marL="0">
              <a:buNone/>
            </a:pPr>
            <a:r>
              <a:rPr lang="en-US" sz="1400" dirty="0">
                <a:solidFill>
                  <a:schemeClr val="accent1"/>
                </a:solidFill>
              </a:rPr>
              <a:t>Free satellite and weather evidence for crop-insurance claims, anywhere on land.</a:t>
            </a:r>
            <a:endParaRPr lang="en-US" sz="1400" dirty="0"/>
          </a:p>
        </p:txBody>
      </p:sp>
      <p:sp>
        <p:nvSpPr>
          <p:cNvPr id="5" name="Text 3"/>
          <p:cNvSpPr txBox="1"/>
          <p:nvPr/>
        </p:nvSpPr>
        <p:spPr>
          <a:xfrm>
            <a:off x="548640" y="4572000"/>
            <a:ext cx="5486400" cy="274320"/>
          </a:xfrm>
          <a:prstGeom prst="rect">
            <a:avLst/>
          </a:prstGeom>
          <a:noFill/>
          <a:ln/>
        </p:spPr>
        <p:txBody>
          <a:bodyPr wrap="square" lIns="0" tIns="0" rIns="0" bIns="0" rtlCol="0" anchor="ctr"/>
          <a:lstStyle/>
          <a:p>
            <a:pPr indent="0" marL="0">
              <a:buNone/>
            </a:pPr>
            <a:r>
              <a:rPr lang="en-US" sz="1100" dirty="0">
                <a:solidFill>
                  <a:schemeClr val="bg2"/>
                </a:solidFill>
              </a:rPr>
              <a:t>VORTEX 2K26 · Climate, Agriculture &amp; Rural Innovation</a:t>
            </a:r>
            <a:endParaRPr lang="en-US" sz="1100" dirty="0"/>
          </a:p>
        </p:txBody>
      </p:sp>
      <p:sp>
        <p:nvSpPr>
          <p:cNvPr id="6" name="Earth"/>
          <p:cNvSpPr/>
          <p:nvPr/>
        </p:nvSpPr>
        <p:spPr>
          <a:xfrm>
            <a:off x="5577840" y="868680"/>
            <a:ext cx="2743200" cy="2743200"/>
          </a:xfrm>
          <a:prstGeom prst="ellipse">
            <a:avLst/>
          </a:prstGeom>
          <a:solidFill>
            <a:schemeClr val="accent6"/>
          </a:solidFill>
          <a:ln w="25400">
            <a:solidFill>
              <a:schemeClr val="accent1"/>
            </a:solidFill>
            <a:prstDash val="solid"/>
          </a:ln>
        </p:spPr>
      </p:sp>
      <p:sp>
        <p:nvSpPr>
          <p:cNvPr id="7" name="Orbit"/>
          <p:cNvSpPr/>
          <p:nvPr/>
        </p:nvSpPr>
        <p:spPr>
          <a:xfrm>
            <a:off x="5120640" y="411480"/>
            <a:ext cx="3657600" cy="3657600"/>
          </a:xfrm>
          <a:prstGeom prst="ellipse">
            <a:avLst/>
          </a:prstGeom>
          <a:solidFill>
            <a:schemeClr val="tx1">
              <a:alpha val="0"/>
            </a:schemeClr>
          </a:solidFill>
          <a:ln w="19050">
            <a:solidFill>
              <a:schemeClr val="accent2"/>
            </a:solidFill>
            <a:prstDash val="dash"/>
          </a:ln>
        </p:spPr>
      </p:sp>
      <p:sp>
        <p:nvSpPr>
          <p:cNvPr id="8" name="Satellite"/>
          <p:cNvSpPr/>
          <p:nvPr/>
        </p:nvSpPr>
        <p:spPr>
          <a:xfrm>
            <a:off x="8156448" y="868680"/>
            <a:ext cx="384048" cy="384048"/>
          </a:xfrm>
          <a:prstGeom prst="ellipse">
            <a:avLst/>
          </a:prstGeom>
          <a:solidFill>
            <a:schemeClr val="bg1"/>
          </a:solidFill>
          <a:ln w="25400">
            <a:solidFill>
              <a:schemeClr val="accent1"/>
            </a:solidFill>
            <a:prstDash val="solid"/>
          </a:ln>
        </p:spPr>
      </p:sp>
      <p:pic>
        <p:nvPicPr>
          <p:cNvPr id="9" name="Seedling" descr="seedling">    </p:cNvPr>
          <p:cNvPicPr>
            <a:picLocks noChangeAspect="1"/>
          </p:cNvPicPr>
          <p:nvPr/>
        </p:nvPicPr>
        <p:blipFill>
          <a:blip r:embed="rId1"/>
          <a:stretch>
            <a:fillRect/>
          </a:stretch>
        </p:blipFill>
        <p:spPr>
          <a:xfrm>
            <a:off x="6537960" y="1828800"/>
            <a:ext cx="822960" cy="822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A short clock and weak evidence</a:t>
            </a:r>
            <a:endParaRPr lang="en-US" sz="3600" dirty="0"/>
          </a:p>
        </p:txBody>
      </p:sp>
      <p:sp>
        <p:nvSpPr>
          <p:cNvPr id="3" name="Card 1"/>
          <p:cNvSpPr/>
          <p:nvPr/>
        </p:nvSpPr>
        <p:spPr>
          <a:xfrm>
            <a:off x="548640" y="1554480"/>
            <a:ext cx="2560320" cy="2743200"/>
          </a:xfrm>
          <a:prstGeom prst="roundRect">
            <a:avLst>
              <a:gd name="adj" fmla="val 4286"/>
            </a:avLst>
          </a:prstGeom>
          <a:solidFill>
            <a:schemeClr val="bg2"/>
          </a:solidFill>
          <a:ln w="12700">
            <a:solidFill>
              <a:schemeClr val="bg2"/>
            </a:solidFill>
            <a:prstDash val="solid"/>
          </a:ln>
        </p:spPr>
      </p:sp>
      <p:sp>
        <p:nvSpPr>
          <p:cNvPr id="4" name="72 hours badge"/>
          <p:cNvSpPr/>
          <p:nvPr/>
        </p:nvSpPr>
        <p:spPr>
          <a:xfrm>
            <a:off x="777240" y="1783080"/>
            <a:ext cx="640080" cy="640080"/>
          </a:xfrm>
          <a:prstGeom prst="ellipse">
            <a:avLst/>
          </a:prstGeom>
          <a:solidFill>
            <a:schemeClr val="tx1"/>
          </a:solidFill>
          <a:ln w="12700">
            <a:solidFill>
              <a:schemeClr val="tx1"/>
            </a:solidFill>
            <a:prstDash val="solid"/>
          </a:ln>
        </p:spPr>
      </p:sp>
      <p:pic>
        <p:nvPicPr>
          <p:cNvPr id="5" name="72 hours icon" descr="72 hours">    </p:cNvPr>
          <p:cNvPicPr>
            <a:picLocks noChangeAspect="1"/>
          </p:cNvPicPr>
          <p:nvPr/>
        </p:nvPicPr>
        <p:blipFill>
          <a:blip r:embed="rId1"/>
          <a:stretch>
            <a:fillRect/>
          </a:stretch>
        </p:blipFill>
        <p:spPr>
          <a:xfrm>
            <a:off x="937260" y="1943100"/>
            <a:ext cx="320040" cy="320040"/>
          </a:xfrm>
          <a:prstGeom prst="rect">
            <a:avLst/>
          </a:prstGeom>
        </p:spPr>
      </p:pic>
      <p:sp>
        <p:nvSpPr>
          <p:cNvPr id="6" name="Text 3"/>
          <p:cNvSpPr txBox="1"/>
          <p:nvPr/>
        </p:nvSpPr>
        <p:spPr>
          <a:xfrm>
            <a:off x="777240" y="2606040"/>
            <a:ext cx="2103120" cy="640080"/>
          </a:xfrm>
          <a:prstGeom prst="rect">
            <a:avLst/>
          </a:prstGeom>
          <a:noFill/>
          <a:ln/>
        </p:spPr>
        <p:txBody>
          <a:bodyPr wrap="square" lIns="0" tIns="0" rIns="0" bIns="0" rtlCol="0" anchor="t"/>
          <a:lstStyle/>
          <a:p>
            <a:pPr indent="0" marL="0">
              <a:buNone/>
            </a:pPr>
            <a:r>
              <a:rPr lang="en-US" sz="1800" b="1" dirty="0">
                <a:solidFill>
                  <a:schemeClr val="tx1"/>
                </a:solidFill>
              </a:rPr>
              <a:t>72 hours</a:t>
            </a:r>
            <a:endParaRPr lang="en-US" sz="1800" dirty="0"/>
          </a:p>
        </p:txBody>
      </p:sp>
      <p:sp>
        <p:nvSpPr>
          <p:cNvPr id="7" name="Text 4"/>
          <p:cNvSpPr txBox="1"/>
          <p:nvPr/>
        </p:nvSpPr>
        <p:spPr>
          <a:xfrm>
            <a:off x="777240" y="3291840"/>
            <a:ext cx="2103120" cy="960120"/>
          </a:xfrm>
          <a:prstGeom prst="rect">
            <a:avLst/>
          </a:prstGeom>
          <a:noFill/>
          <a:ln/>
        </p:spPr>
        <p:txBody>
          <a:bodyPr wrap="square" lIns="0" tIns="0" rIns="0" bIns="0" rtlCol="0" anchor="t"/>
          <a:lstStyle/>
          <a:p>
            <a:pPr indent="0" marL="0">
              <a:buNone/>
            </a:pPr>
            <a:r>
              <a:rPr lang="en-US" sz="1300" dirty="0">
                <a:solidFill>
                  <a:schemeClr val="tx2"/>
                </a:solidFill>
              </a:rPr>
              <a:t>Localised losses such as hail or inundation must be reported within 72 hours under PMFBY.</a:t>
            </a:r>
            <a:endParaRPr lang="en-US" sz="1300" dirty="0"/>
          </a:p>
        </p:txBody>
      </p:sp>
      <p:sp>
        <p:nvSpPr>
          <p:cNvPr id="8" name="Card 2"/>
          <p:cNvSpPr/>
          <p:nvPr/>
        </p:nvSpPr>
        <p:spPr>
          <a:xfrm>
            <a:off x="3291840" y="1554480"/>
            <a:ext cx="2560320" cy="2743200"/>
          </a:xfrm>
          <a:prstGeom prst="roundRect">
            <a:avLst>
              <a:gd name="adj" fmla="val 4286"/>
            </a:avLst>
          </a:prstGeom>
          <a:solidFill>
            <a:schemeClr val="bg2"/>
          </a:solidFill>
          <a:ln w="12700">
            <a:solidFill>
              <a:schemeClr val="bg2"/>
            </a:solidFill>
            <a:prstDash val="solid"/>
          </a:ln>
        </p:spPr>
      </p:sp>
      <p:sp>
        <p:nvSpPr>
          <p:cNvPr id="9" name="Photos are hard to verify badge"/>
          <p:cNvSpPr/>
          <p:nvPr/>
        </p:nvSpPr>
        <p:spPr>
          <a:xfrm>
            <a:off x="3520440" y="1783080"/>
            <a:ext cx="640080" cy="640080"/>
          </a:xfrm>
          <a:prstGeom prst="ellipse">
            <a:avLst/>
          </a:prstGeom>
          <a:solidFill>
            <a:schemeClr val="tx1"/>
          </a:solidFill>
          <a:ln w="12700">
            <a:solidFill>
              <a:schemeClr val="tx1"/>
            </a:solidFill>
            <a:prstDash val="solid"/>
          </a:ln>
        </p:spPr>
      </p:sp>
      <p:pic>
        <p:nvPicPr>
          <p:cNvPr id="10" name="Photos are hard to verify icon" descr="Photos are hard to verify">    </p:cNvPr>
          <p:cNvPicPr>
            <a:picLocks noChangeAspect="1"/>
          </p:cNvPicPr>
          <p:nvPr/>
        </p:nvPicPr>
        <p:blipFill>
          <a:blip r:embed="rId2"/>
          <a:stretch>
            <a:fillRect/>
          </a:stretch>
        </p:blipFill>
        <p:spPr>
          <a:xfrm>
            <a:off x="3680460" y="1943100"/>
            <a:ext cx="320040" cy="320040"/>
          </a:xfrm>
          <a:prstGeom prst="rect">
            <a:avLst/>
          </a:prstGeom>
        </p:spPr>
      </p:pic>
      <p:sp>
        <p:nvSpPr>
          <p:cNvPr id="11" name="Text 7"/>
          <p:cNvSpPr txBox="1"/>
          <p:nvPr/>
        </p:nvSpPr>
        <p:spPr>
          <a:xfrm>
            <a:off x="3520440" y="2606040"/>
            <a:ext cx="2103120" cy="640080"/>
          </a:xfrm>
          <a:prstGeom prst="rect">
            <a:avLst/>
          </a:prstGeom>
          <a:noFill/>
          <a:ln/>
        </p:spPr>
        <p:txBody>
          <a:bodyPr wrap="square" lIns="0" tIns="0" rIns="0" bIns="0" rtlCol="0" anchor="t"/>
          <a:lstStyle/>
          <a:p>
            <a:pPr indent="0" marL="0">
              <a:buNone/>
            </a:pPr>
            <a:r>
              <a:rPr lang="en-US" sz="1800" b="1" dirty="0">
                <a:solidFill>
                  <a:schemeClr val="tx1"/>
                </a:solidFill>
              </a:rPr>
              <a:t>Photos are hard to verify</a:t>
            </a:r>
            <a:endParaRPr lang="en-US" sz="1800" dirty="0"/>
          </a:p>
        </p:txBody>
      </p:sp>
      <p:sp>
        <p:nvSpPr>
          <p:cNvPr id="12" name="Text 8"/>
          <p:cNvSpPr txBox="1"/>
          <p:nvPr/>
        </p:nvSpPr>
        <p:spPr>
          <a:xfrm>
            <a:off x="3520440" y="3291840"/>
            <a:ext cx="2103120" cy="960120"/>
          </a:xfrm>
          <a:prstGeom prst="rect">
            <a:avLst/>
          </a:prstGeom>
          <a:noFill/>
          <a:ln/>
        </p:spPr>
        <p:txBody>
          <a:bodyPr wrap="square" lIns="0" tIns="0" rIns="0" bIns="0" rtlCol="0" anchor="t"/>
          <a:lstStyle/>
          <a:p>
            <a:pPr indent="0" marL="0">
              <a:buNone/>
            </a:pPr>
            <a:r>
              <a:rPr lang="en-US" sz="1300" dirty="0">
                <a:solidFill>
                  <a:schemeClr val="tx2"/>
                </a:solidFill>
              </a:rPr>
              <a:t>A dated, location-stamped satellite comparison is objective and repeatable.</a:t>
            </a:r>
            <a:endParaRPr lang="en-US" sz="1300" dirty="0"/>
          </a:p>
        </p:txBody>
      </p:sp>
      <p:sp>
        <p:nvSpPr>
          <p:cNvPr id="13" name="Card 3"/>
          <p:cNvSpPr/>
          <p:nvPr/>
        </p:nvSpPr>
        <p:spPr>
          <a:xfrm>
            <a:off x="6035040" y="1554480"/>
            <a:ext cx="2560320" cy="2743200"/>
          </a:xfrm>
          <a:prstGeom prst="roundRect">
            <a:avLst>
              <a:gd name="adj" fmla="val 4286"/>
            </a:avLst>
          </a:prstGeom>
          <a:solidFill>
            <a:schemeClr val="bg2"/>
          </a:solidFill>
          <a:ln w="12700">
            <a:solidFill>
              <a:schemeClr val="bg2"/>
            </a:solidFill>
            <a:prstDash val="solid"/>
          </a:ln>
        </p:spPr>
      </p:sp>
      <p:sp>
        <p:nvSpPr>
          <p:cNvPr id="14" name="The route differs by peril badge"/>
          <p:cNvSpPr/>
          <p:nvPr/>
        </p:nvSpPr>
        <p:spPr>
          <a:xfrm>
            <a:off x="6263640" y="1783080"/>
            <a:ext cx="640080" cy="640080"/>
          </a:xfrm>
          <a:prstGeom prst="ellipse">
            <a:avLst/>
          </a:prstGeom>
          <a:solidFill>
            <a:schemeClr val="tx1"/>
          </a:solidFill>
          <a:ln w="12700">
            <a:solidFill>
              <a:schemeClr val="tx1"/>
            </a:solidFill>
            <a:prstDash val="solid"/>
          </a:ln>
        </p:spPr>
      </p:sp>
      <p:pic>
        <p:nvPicPr>
          <p:cNvPr id="15" name="The route differs by peril icon" descr="The route differs by peril">    </p:cNvPr>
          <p:cNvPicPr>
            <a:picLocks noChangeAspect="1"/>
          </p:cNvPicPr>
          <p:nvPr/>
        </p:nvPicPr>
        <p:blipFill>
          <a:blip r:embed="rId3"/>
          <a:stretch>
            <a:fillRect/>
          </a:stretch>
        </p:blipFill>
        <p:spPr>
          <a:xfrm>
            <a:off x="6423660" y="1943100"/>
            <a:ext cx="320040" cy="320040"/>
          </a:xfrm>
          <a:prstGeom prst="rect">
            <a:avLst/>
          </a:prstGeom>
        </p:spPr>
      </p:pic>
      <p:sp>
        <p:nvSpPr>
          <p:cNvPr id="16" name="Text 11"/>
          <p:cNvSpPr txBox="1"/>
          <p:nvPr/>
        </p:nvSpPr>
        <p:spPr>
          <a:xfrm>
            <a:off x="6263640" y="2606040"/>
            <a:ext cx="2103120" cy="640080"/>
          </a:xfrm>
          <a:prstGeom prst="rect">
            <a:avLst/>
          </a:prstGeom>
          <a:noFill/>
          <a:ln/>
        </p:spPr>
        <p:txBody>
          <a:bodyPr wrap="square" lIns="0" tIns="0" rIns="0" bIns="0" rtlCol="0" anchor="t"/>
          <a:lstStyle/>
          <a:p>
            <a:pPr indent="0" marL="0">
              <a:buNone/>
            </a:pPr>
            <a:r>
              <a:rPr lang="en-US" sz="1800" b="1" dirty="0">
                <a:solidFill>
                  <a:schemeClr val="tx1"/>
                </a:solidFill>
              </a:rPr>
              <a:t>The route differs by peril</a:t>
            </a:r>
            <a:endParaRPr lang="en-US" sz="1800" dirty="0"/>
          </a:p>
        </p:txBody>
      </p:sp>
      <p:sp>
        <p:nvSpPr>
          <p:cNvPr id="17" name="Text 12"/>
          <p:cNvSpPr txBox="1"/>
          <p:nvPr/>
        </p:nvSpPr>
        <p:spPr>
          <a:xfrm>
            <a:off x="6263640" y="3291840"/>
            <a:ext cx="2103120" cy="960120"/>
          </a:xfrm>
          <a:prstGeom prst="rect">
            <a:avLst/>
          </a:prstGeom>
          <a:noFill/>
          <a:ln/>
        </p:spPr>
        <p:txBody>
          <a:bodyPr wrap="square" lIns="0" tIns="0" rIns="0" bIns="0" rtlCol="0" anchor="t"/>
          <a:lstStyle/>
          <a:p>
            <a:pPr indent="0" marL="0">
              <a:buNone/>
            </a:pPr>
            <a:r>
              <a:rPr lang="en-US" sz="1300" dirty="0">
                <a:solidFill>
                  <a:schemeClr val="tx2"/>
                </a:solidFill>
              </a:rPr>
              <a:t>Individual claim or area-yield? Knowing which applies saves days.</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From a sentence to a claim kit</a:t>
            </a:r>
            <a:endParaRPr lang="en-US" sz="3600" dirty="0"/>
          </a:p>
        </p:txBody>
      </p:sp>
      <p:sp>
        <p:nvSpPr>
          <p:cNvPr id="3" name="Step 1"/>
          <p:cNvSpPr/>
          <p:nvPr/>
        </p:nvSpPr>
        <p:spPr>
          <a:xfrm>
            <a:off x="548640" y="1600200"/>
            <a:ext cx="731520" cy="731520"/>
          </a:xfrm>
          <a:prstGeom prst="ellipse">
            <a:avLst/>
          </a:prstGeom>
          <a:solidFill>
            <a:schemeClr val="accent1"/>
          </a:solidFill>
          <a:ln w="12700">
            <a:solidFill>
              <a:schemeClr val="bg1"/>
            </a:solidFill>
            <a:prstDash val="solid"/>
          </a:ln>
        </p:spPr>
      </p:sp>
      <p:sp>
        <p:nvSpPr>
          <p:cNvPr id="4" name="Text 2"/>
          <p:cNvSpPr txBox="1"/>
          <p:nvPr/>
        </p:nvSpPr>
        <p:spPr>
          <a:xfrm>
            <a:off x="548640" y="1600200"/>
            <a:ext cx="731520" cy="731520"/>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5" name="Arrow 1"/>
          <p:cNvSpPr/>
          <p:nvPr/>
        </p:nvSpPr>
        <p:spPr>
          <a:xfrm>
            <a:off x="1417320" y="1828800"/>
            <a:ext cx="777240" cy="274320"/>
          </a:xfrm>
          <a:prstGeom prst="rightArrow">
            <a:avLst/>
          </a:prstGeom>
          <a:solidFill>
            <a:schemeClr val="accent2"/>
          </a:solidFill>
          <a:ln w="12700">
            <a:solidFill>
              <a:schemeClr val="accent2"/>
            </a:solidFill>
            <a:prstDash val="solid"/>
          </a:ln>
        </p:spPr>
      </p:sp>
      <p:sp>
        <p:nvSpPr>
          <p:cNvPr id="6" name="Text 4"/>
          <p:cNvSpPr txBox="1"/>
          <p:nvPr/>
        </p:nvSpPr>
        <p:spPr>
          <a:xfrm>
            <a:off x="548640" y="2560320"/>
            <a:ext cx="1828800" cy="365760"/>
          </a:xfrm>
          <a:prstGeom prst="rect">
            <a:avLst/>
          </a:prstGeom>
          <a:noFill/>
          <a:ln/>
        </p:spPr>
        <p:txBody>
          <a:bodyPr wrap="square" lIns="0" tIns="0" rIns="0" bIns="0" rtlCol="0" anchor="ctr"/>
          <a:lstStyle/>
          <a:p>
            <a:pPr indent="0" marL="0">
              <a:buNone/>
            </a:pPr>
            <a:r>
              <a:rPr lang="en-US" sz="2000" b="1" dirty="0">
                <a:solidFill>
                  <a:schemeClr val="tx1"/>
                </a:solidFill>
              </a:rPr>
              <a:t>Describe</a:t>
            </a:r>
            <a:endParaRPr lang="en-US" sz="2000" dirty="0"/>
          </a:p>
        </p:txBody>
      </p:sp>
      <p:sp>
        <p:nvSpPr>
          <p:cNvPr id="7" name="Text 5"/>
          <p:cNvSpPr txBox="1"/>
          <p:nvPr/>
        </p:nvSpPr>
        <p:spPr>
          <a:xfrm>
            <a:off x="548640" y="2971800"/>
            <a:ext cx="1828800" cy="1280160"/>
          </a:xfrm>
          <a:prstGeom prst="rect">
            <a:avLst/>
          </a:prstGeom>
          <a:noFill/>
          <a:ln/>
        </p:spPr>
        <p:txBody>
          <a:bodyPr wrap="square" lIns="0" tIns="0" rIns="0" bIns="0" rtlCol="0" anchor="t"/>
          <a:lstStyle/>
          <a:p>
            <a:pPr indent="0" marL="0">
              <a:buNone/>
            </a:pPr>
            <a:r>
              <a:rPr lang="en-US" sz="1400" dirty="0">
                <a:solidFill>
                  <a:schemeClr val="tx2"/>
                </a:solidFill>
              </a:rPr>
              <a:t>Type it in six languages, or tap the field on a satellite map.</a:t>
            </a:r>
            <a:endParaRPr lang="en-US" sz="1400" dirty="0"/>
          </a:p>
        </p:txBody>
      </p:sp>
      <p:sp>
        <p:nvSpPr>
          <p:cNvPr id="8" name="Step 2"/>
          <p:cNvSpPr/>
          <p:nvPr/>
        </p:nvSpPr>
        <p:spPr>
          <a:xfrm>
            <a:off x="2606040" y="1600200"/>
            <a:ext cx="731520" cy="731520"/>
          </a:xfrm>
          <a:prstGeom prst="ellipse">
            <a:avLst/>
          </a:prstGeom>
          <a:solidFill>
            <a:schemeClr val="accent1"/>
          </a:solidFill>
          <a:ln w="12700">
            <a:solidFill>
              <a:schemeClr val="bg1"/>
            </a:solidFill>
            <a:prstDash val="solid"/>
          </a:ln>
        </p:spPr>
      </p:sp>
      <p:sp>
        <p:nvSpPr>
          <p:cNvPr id="9" name="Text 7"/>
          <p:cNvSpPr txBox="1"/>
          <p:nvPr/>
        </p:nvSpPr>
        <p:spPr>
          <a:xfrm>
            <a:off x="2606040" y="1600200"/>
            <a:ext cx="731520" cy="731520"/>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10" name="Arrow 2"/>
          <p:cNvSpPr/>
          <p:nvPr/>
        </p:nvSpPr>
        <p:spPr>
          <a:xfrm>
            <a:off x="3474720" y="1828800"/>
            <a:ext cx="777240" cy="274320"/>
          </a:xfrm>
          <a:prstGeom prst="rightArrow">
            <a:avLst/>
          </a:prstGeom>
          <a:solidFill>
            <a:schemeClr val="accent2"/>
          </a:solidFill>
          <a:ln w="12700">
            <a:solidFill>
              <a:schemeClr val="accent2"/>
            </a:solidFill>
            <a:prstDash val="solid"/>
          </a:ln>
        </p:spPr>
      </p:sp>
      <p:sp>
        <p:nvSpPr>
          <p:cNvPr id="11" name="Text 9"/>
          <p:cNvSpPr txBox="1"/>
          <p:nvPr/>
        </p:nvSpPr>
        <p:spPr>
          <a:xfrm>
            <a:off x="2606040" y="2560320"/>
            <a:ext cx="1828800" cy="365760"/>
          </a:xfrm>
          <a:prstGeom prst="rect">
            <a:avLst/>
          </a:prstGeom>
          <a:noFill/>
          <a:ln/>
        </p:spPr>
        <p:txBody>
          <a:bodyPr wrap="square" lIns="0" tIns="0" rIns="0" bIns="0" rtlCol="0" anchor="ctr"/>
          <a:lstStyle/>
          <a:p>
            <a:pPr indent="0" marL="0">
              <a:buNone/>
            </a:pPr>
            <a:r>
              <a:rPr lang="en-US" sz="2000" b="1" dirty="0">
                <a:solidFill>
                  <a:schemeClr val="tx1"/>
                </a:solidFill>
              </a:rPr>
              <a:t>Compare</a:t>
            </a:r>
            <a:endParaRPr lang="en-US" sz="2000" dirty="0"/>
          </a:p>
        </p:txBody>
      </p:sp>
      <p:sp>
        <p:nvSpPr>
          <p:cNvPr id="12" name="Text 10"/>
          <p:cNvSpPr txBox="1"/>
          <p:nvPr/>
        </p:nvSpPr>
        <p:spPr>
          <a:xfrm>
            <a:off x="2606040" y="2971800"/>
            <a:ext cx="1828800" cy="1280160"/>
          </a:xfrm>
          <a:prstGeom prst="rect">
            <a:avLst/>
          </a:prstGeom>
          <a:noFill/>
          <a:ln/>
        </p:spPr>
        <p:txBody>
          <a:bodyPr wrap="square" lIns="0" tIns="0" rIns="0" bIns="0" rtlCol="0" anchor="t"/>
          <a:lstStyle/>
          <a:p>
            <a:pPr indent="0" marL="0">
              <a:buNone/>
            </a:pPr>
            <a:r>
              <a:rPr lang="en-US" sz="1400" dirty="0">
                <a:solidFill>
                  <a:schemeClr val="tx2"/>
                </a:solidFill>
              </a:rPr>
              <a:t>Sentinel-2 images before and after, cloud-masked pixel by pixel.</a:t>
            </a:r>
            <a:endParaRPr lang="en-US" sz="1400" dirty="0"/>
          </a:p>
        </p:txBody>
      </p:sp>
      <p:sp>
        <p:nvSpPr>
          <p:cNvPr id="13" name="Step 3"/>
          <p:cNvSpPr/>
          <p:nvPr/>
        </p:nvSpPr>
        <p:spPr>
          <a:xfrm>
            <a:off x="4663440" y="1600200"/>
            <a:ext cx="731520" cy="731520"/>
          </a:xfrm>
          <a:prstGeom prst="ellipse">
            <a:avLst/>
          </a:prstGeom>
          <a:solidFill>
            <a:schemeClr val="accent1"/>
          </a:solidFill>
          <a:ln w="12700">
            <a:solidFill>
              <a:schemeClr val="bg1"/>
            </a:solidFill>
            <a:prstDash val="solid"/>
          </a:ln>
        </p:spPr>
      </p:sp>
      <p:sp>
        <p:nvSpPr>
          <p:cNvPr id="14" name="Text 12"/>
          <p:cNvSpPr txBox="1"/>
          <p:nvPr/>
        </p:nvSpPr>
        <p:spPr>
          <a:xfrm>
            <a:off x="4663440" y="1600200"/>
            <a:ext cx="731520" cy="731520"/>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15" name="Arrow 3"/>
          <p:cNvSpPr/>
          <p:nvPr/>
        </p:nvSpPr>
        <p:spPr>
          <a:xfrm>
            <a:off x="5532120" y="1828800"/>
            <a:ext cx="777240" cy="274320"/>
          </a:xfrm>
          <a:prstGeom prst="rightArrow">
            <a:avLst/>
          </a:prstGeom>
          <a:solidFill>
            <a:schemeClr val="accent2"/>
          </a:solidFill>
          <a:ln w="12700">
            <a:solidFill>
              <a:schemeClr val="accent2"/>
            </a:solidFill>
            <a:prstDash val="solid"/>
          </a:ln>
        </p:spPr>
      </p:sp>
      <p:sp>
        <p:nvSpPr>
          <p:cNvPr id="16" name="Text 14"/>
          <p:cNvSpPr txBox="1"/>
          <p:nvPr/>
        </p:nvSpPr>
        <p:spPr>
          <a:xfrm>
            <a:off x="4663440" y="2560320"/>
            <a:ext cx="1828800" cy="365760"/>
          </a:xfrm>
          <a:prstGeom prst="rect">
            <a:avLst/>
          </a:prstGeom>
          <a:noFill/>
          <a:ln/>
        </p:spPr>
        <p:txBody>
          <a:bodyPr wrap="square" lIns="0" tIns="0" rIns="0" bIns="0" rtlCol="0" anchor="ctr"/>
          <a:lstStyle/>
          <a:p>
            <a:pPr indent="0" marL="0">
              <a:buNone/>
            </a:pPr>
            <a:r>
              <a:rPr lang="en-US" sz="2000" b="1" dirty="0">
                <a:solidFill>
                  <a:schemeClr val="tx1"/>
                </a:solidFill>
              </a:rPr>
              <a:t>Check</a:t>
            </a:r>
            <a:endParaRPr lang="en-US" sz="2000" dirty="0"/>
          </a:p>
        </p:txBody>
      </p:sp>
      <p:sp>
        <p:nvSpPr>
          <p:cNvPr id="17" name="Text 15"/>
          <p:cNvSpPr txBox="1"/>
          <p:nvPr/>
        </p:nvSpPr>
        <p:spPr>
          <a:xfrm>
            <a:off x="4663440" y="2971800"/>
            <a:ext cx="1828800" cy="1280160"/>
          </a:xfrm>
          <a:prstGeom prst="rect">
            <a:avLst/>
          </a:prstGeom>
          <a:noFill/>
          <a:ln/>
        </p:spPr>
        <p:txBody>
          <a:bodyPr wrap="square" lIns="0" tIns="0" rIns="0" bIns="0" rtlCol="0" anchor="t"/>
          <a:lstStyle/>
          <a:p>
            <a:pPr indent="0" marL="0">
              <a:buNone/>
            </a:pPr>
            <a:r>
              <a:rPr lang="en-US" sz="1400" dirty="0">
                <a:solidFill>
                  <a:schemeClr val="tx2"/>
                </a:solidFill>
              </a:rPr>
              <a:t>Rain against 10 years of local history, and the crop's growth stage.</a:t>
            </a:r>
            <a:endParaRPr lang="en-US" sz="1400" dirty="0"/>
          </a:p>
        </p:txBody>
      </p:sp>
      <p:sp>
        <p:nvSpPr>
          <p:cNvPr id="18" name="Step 4"/>
          <p:cNvSpPr/>
          <p:nvPr/>
        </p:nvSpPr>
        <p:spPr>
          <a:xfrm>
            <a:off x="6720840" y="1600200"/>
            <a:ext cx="731520" cy="731520"/>
          </a:xfrm>
          <a:prstGeom prst="ellipse">
            <a:avLst/>
          </a:prstGeom>
          <a:solidFill>
            <a:schemeClr val="accent3"/>
          </a:solidFill>
          <a:ln w="12700">
            <a:solidFill>
              <a:schemeClr val="bg1"/>
            </a:solidFill>
            <a:prstDash val="solid"/>
          </a:ln>
        </p:spPr>
      </p:sp>
      <p:sp>
        <p:nvSpPr>
          <p:cNvPr id="19" name="Text 17"/>
          <p:cNvSpPr txBox="1"/>
          <p:nvPr/>
        </p:nvSpPr>
        <p:spPr>
          <a:xfrm>
            <a:off x="6720840" y="1600200"/>
            <a:ext cx="731520" cy="731520"/>
          </a:xfrm>
          <a:prstGeom prst="rect">
            <a:avLst/>
          </a:prstGeom>
          <a:noFill/>
          <a:ln/>
        </p:spPr>
        <p:txBody>
          <a:bodyPr wrap="square" lIns="0" tIns="0" rIns="0" bIns="0" rtlCol="0" anchor="ctr"/>
          <a:lstStyle/>
          <a:p>
            <a:pPr algn="ctr" indent="0" marL="0">
              <a:buNone/>
            </a:pPr>
            <a:r>
              <a:rPr lang="en-US" sz="2600" b="1" dirty="0">
                <a:solidFill>
                  <a:schemeClr val="tx1"/>
                </a:solidFill>
              </a:rPr>
              <a:t>4</a:t>
            </a:r>
            <a:endParaRPr lang="en-US" sz="2600" dirty="0"/>
          </a:p>
        </p:txBody>
      </p:sp>
      <p:sp>
        <p:nvSpPr>
          <p:cNvPr id="20" name="Text 18"/>
          <p:cNvSpPr txBox="1"/>
          <p:nvPr/>
        </p:nvSpPr>
        <p:spPr>
          <a:xfrm>
            <a:off x="6720840" y="2560320"/>
            <a:ext cx="1828800" cy="365760"/>
          </a:xfrm>
          <a:prstGeom prst="rect">
            <a:avLst/>
          </a:prstGeom>
          <a:noFill/>
          <a:ln/>
        </p:spPr>
        <p:txBody>
          <a:bodyPr wrap="square" lIns="0" tIns="0" rIns="0" bIns="0" rtlCol="0" anchor="ctr"/>
          <a:lstStyle/>
          <a:p>
            <a:pPr indent="0" marL="0">
              <a:buNone/>
            </a:pPr>
            <a:r>
              <a:rPr lang="en-US" sz="2000" b="1" dirty="0">
                <a:solidFill>
                  <a:schemeClr val="tx1"/>
                </a:solidFill>
              </a:rPr>
              <a:t>Claim kit</a:t>
            </a:r>
            <a:endParaRPr lang="en-US" sz="2000" dirty="0"/>
          </a:p>
        </p:txBody>
      </p:sp>
      <p:sp>
        <p:nvSpPr>
          <p:cNvPr id="21" name="Text 19"/>
          <p:cNvSpPr txBox="1"/>
          <p:nvPr/>
        </p:nvSpPr>
        <p:spPr>
          <a:xfrm>
            <a:off x="6720840" y="2971800"/>
            <a:ext cx="1828800" cy="1280160"/>
          </a:xfrm>
          <a:prstGeom prst="rect">
            <a:avLst/>
          </a:prstGeom>
          <a:noFill/>
          <a:ln/>
        </p:spPr>
        <p:txBody>
          <a:bodyPr wrap="square" lIns="0" tIns="0" rIns="0" bIns="0" rtlCol="0" anchor="t"/>
          <a:lstStyle/>
          <a:p>
            <a:pPr indent="0" marL="0">
              <a:buNone/>
            </a:pPr>
            <a:r>
              <a:rPr lang="en-US" sz="1400" dirty="0">
                <a:solidFill>
                  <a:schemeClr val="tx2"/>
                </a:solidFill>
              </a:rPr>
              <a:t>Route, deadline, letter, reminders and a signed report.</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Free, open data end to end</a:t>
            </a:r>
            <a:endParaRPr lang="en-US" sz="3600" dirty="0"/>
          </a:p>
        </p:txBody>
      </p:sp>
      <p:sp>
        <p:nvSpPr>
          <p:cNvPr id="3" name="Browser box"/>
          <p:cNvSpPr/>
          <p:nvPr/>
        </p:nvSpPr>
        <p:spPr>
          <a:xfrm>
            <a:off x="548640" y="1463040"/>
            <a:ext cx="2468880" cy="1371600"/>
          </a:xfrm>
          <a:prstGeom prst="roundRect">
            <a:avLst>
              <a:gd name="adj" fmla="val 6667"/>
            </a:avLst>
          </a:prstGeom>
          <a:solidFill>
            <a:schemeClr val="tx1"/>
          </a:solidFill>
          <a:ln w="12700">
            <a:solidFill>
              <a:schemeClr val="tx1"/>
            </a:solidFill>
            <a:prstDash val="solid"/>
          </a:ln>
        </p:spPr>
      </p:sp>
      <p:sp>
        <p:nvSpPr>
          <p:cNvPr id="4" name="Text 2"/>
          <p:cNvSpPr txBox="1"/>
          <p:nvPr/>
        </p:nvSpPr>
        <p:spPr>
          <a:xfrm>
            <a:off x="685800" y="1572768"/>
            <a:ext cx="2194560" cy="320040"/>
          </a:xfrm>
          <a:prstGeom prst="rect">
            <a:avLst/>
          </a:prstGeom>
          <a:noFill/>
          <a:ln/>
        </p:spPr>
        <p:txBody>
          <a:bodyPr wrap="square" lIns="0" tIns="0" rIns="0" bIns="0" rtlCol="0" anchor="ctr"/>
          <a:lstStyle/>
          <a:p>
            <a:pPr indent="0" marL="0">
              <a:buNone/>
            </a:pPr>
            <a:r>
              <a:rPr lang="en-US" sz="1600" b="1" dirty="0">
                <a:solidFill>
                  <a:schemeClr val="bg1"/>
                </a:solidFill>
              </a:rPr>
              <a:t>Browser</a:t>
            </a:r>
            <a:endParaRPr lang="en-US" sz="1600" dirty="0"/>
          </a:p>
        </p:txBody>
      </p:sp>
      <p:sp>
        <p:nvSpPr>
          <p:cNvPr id="5" name="Text 3"/>
          <p:cNvSpPr txBox="1"/>
          <p:nvPr/>
        </p:nvSpPr>
        <p:spPr>
          <a:xfrm>
            <a:off x="685800" y="1920240"/>
            <a:ext cx="2194560" cy="822960"/>
          </a:xfrm>
          <a:prstGeom prst="rect">
            <a:avLst/>
          </a:prstGeom>
          <a:noFill/>
          <a:ln/>
        </p:spPr>
        <p:txBody>
          <a:bodyPr wrap="square" lIns="0" tIns="0" rIns="0" bIns="0" rtlCol="0" anchor="t"/>
          <a:lstStyle/>
          <a:p>
            <a:pPr indent="0" marL="0">
              <a:buNone/>
            </a:pPr>
            <a:r>
              <a:rPr lang="en-US" sz="1300" dirty="0">
                <a:solidFill>
                  <a:schemeClr val="bg2"/>
                </a:solidFill>
              </a:rPr>
              <a:t>React + Vite PWA, Leaflet map, charts, offline queue</a:t>
            </a:r>
            <a:endParaRPr lang="en-US" sz="1300" dirty="0"/>
          </a:p>
        </p:txBody>
      </p:sp>
      <p:sp>
        <p:nvSpPr>
          <p:cNvPr id="6" name="API box"/>
          <p:cNvSpPr/>
          <p:nvPr/>
        </p:nvSpPr>
        <p:spPr>
          <a:xfrm>
            <a:off x="3520440" y="1463040"/>
            <a:ext cx="2468880" cy="1371600"/>
          </a:xfrm>
          <a:prstGeom prst="roundRect">
            <a:avLst>
              <a:gd name="adj" fmla="val 6667"/>
            </a:avLst>
          </a:prstGeom>
          <a:solidFill>
            <a:schemeClr val="tx1"/>
          </a:solidFill>
          <a:ln w="12700">
            <a:solidFill>
              <a:schemeClr val="tx1"/>
            </a:solidFill>
            <a:prstDash val="solid"/>
          </a:ln>
        </p:spPr>
      </p:sp>
      <p:sp>
        <p:nvSpPr>
          <p:cNvPr id="7" name="Text 5"/>
          <p:cNvSpPr txBox="1"/>
          <p:nvPr/>
        </p:nvSpPr>
        <p:spPr>
          <a:xfrm>
            <a:off x="3657600" y="1572768"/>
            <a:ext cx="2194560" cy="320040"/>
          </a:xfrm>
          <a:prstGeom prst="rect">
            <a:avLst/>
          </a:prstGeom>
          <a:noFill/>
          <a:ln/>
        </p:spPr>
        <p:txBody>
          <a:bodyPr wrap="square" lIns="0" tIns="0" rIns="0" bIns="0" rtlCol="0" anchor="ctr"/>
          <a:lstStyle/>
          <a:p>
            <a:pPr indent="0" marL="0">
              <a:buNone/>
            </a:pPr>
            <a:r>
              <a:rPr lang="en-US" sz="1600" b="1" dirty="0">
                <a:solidFill>
                  <a:schemeClr val="bg1"/>
                </a:solidFill>
              </a:rPr>
              <a:t>API (Render)</a:t>
            </a:r>
            <a:endParaRPr lang="en-US" sz="1600" dirty="0"/>
          </a:p>
        </p:txBody>
      </p:sp>
      <p:sp>
        <p:nvSpPr>
          <p:cNvPr id="8" name="Text 6"/>
          <p:cNvSpPr txBox="1"/>
          <p:nvPr/>
        </p:nvSpPr>
        <p:spPr>
          <a:xfrm>
            <a:off x="3657600" y="1920240"/>
            <a:ext cx="2194560" cy="822960"/>
          </a:xfrm>
          <a:prstGeom prst="rect">
            <a:avLst/>
          </a:prstGeom>
          <a:noFill/>
          <a:ln/>
        </p:spPr>
        <p:txBody>
          <a:bodyPr wrap="square" lIns="0" tIns="0" rIns="0" bIns="0" rtlCol="0" anchor="t"/>
          <a:lstStyle/>
          <a:p>
            <a:pPr indent="0" marL="0">
              <a:buNone/>
            </a:pPr>
            <a:r>
              <a:rPr lang="en-US" sz="1300" dirty="0">
                <a:solidFill>
                  <a:schemeClr val="bg2"/>
                </a:solidFill>
              </a:rPr>
              <a:t>FastAPI in Docker: numpy, rasterio, Ed25519 signing</a:t>
            </a:r>
            <a:endParaRPr lang="en-US" sz="1300" dirty="0"/>
          </a:p>
        </p:txBody>
      </p:sp>
      <p:sp>
        <p:nvSpPr>
          <p:cNvPr id="9" name="Satellite box"/>
          <p:cNvSpPr/>
          <p:nvPr/>
        </p:nvSpPr>
        <p:spPr>
          <a:xfrm>
            <a:off x="6492240" y="1463040"/>
            <a:ext cx="2103120" cy="1371600"/>
          </a:xfrm>
          <a:prstGeom prst="roundRect">
            <a:avLst>
              <a:gd name="adj" fmla="val 6667"/>
            </a:avLst>
          </a:prstGeom>
          <a:solidFill>
            <a:schemeClr val="accent6"/>
          </a:solidFill>
          <a:ln w="12700">
            <a:solidFill>
              <a:schemeClr val="accent6"/>
            </a:solidFill>
            <a:prstDash val="solid"/>
          </a:ln>
        </p:spPr>
      </p:sp>
      <p:sp>
        <p:nvSpPr>
          <p:cNvPr id="10" name="Text 8"/>
          <p:cNvSpPr txBox="1"/>
          <p:nvPr/>
        </p:nvSpPr>
        <p:spPr>
          <a:xfrm>
            <a:off x="6629400" y="1572768"/>
            <a:ext cx="1828800" cy="320040"/>
          </a:xfrm>
          <a:prstGeom prst="rect">
            <a:avLst/>
          </a:prstGeom>
          <a:noFill/>
          <a:ln/>
        </p:spPr>
        <p:txBody>
          <a:bodyPr wrap="square" lIns="0" tIns="0" rIns="0" bIns="0" rtlCol="0" anchor="ctr"/>
          <a:lstStyle/>
          <a:p>
            <a:pPr indent="0" marL="0">
              <a:buNone/>
            </a:pPr>
            <a:r>
              <a:rPr lang="en-US" sz="1600" b="1" dirty="0">
                <a:solidFill>
                  <a:schemeClr val="bg1"/>
                </a:solidFill>
              </a:rPr>
              <a:t>Sentinel-2</a:t>
            </a:r>
            <a:endParaRPr lang="en-US" sz="1600" dirty="0"/>
          </a:p>
        </p:txBody>
      </p:sp>
      <p:sp>
        <p:nvSpPr>
          <p:cNvPr id="11" name="Text 9"/>
          <p:cNvSpPr txBox="1"/>
          <p:nvPr/>
        </p:nvSpPr>
        <p:spPr>
          <a:xfrm>
            <a:off x="6629400" y="1920240"/>
            <a:ext cx="1828800" cy="822960"/>
          </a:xfrm>
          <a:prstGeom prst="rect">
            <a:avLst/>
          </a:prstGeom>
          <a:noFill/>
          <a:ln/>
        </p:spPr>
        <p:txBody>
          <a:bodyPr wrap="square" lIns="0" tIns="0" rIns="0" bIns="0" rtlCol="0" anchor="t"/>
          <a:lstStyle/>
          <a:p>
            <a:pPr indent="0" marL="0">
              <a:buNone/>
            </a:pPr>
            <a:r>
              <a:rPr lang="en-US" sz="1300" dirty="0">
                <a:solidFill>
                  <a:schemeClr val="bg2"/>
                </a:solidFill>
              </a:rPr>
              <a:t>ESA open data on AWS, 10 m, about 5 days</a:t>
            </a:r>
            <a:endParaRPr lang="en-US" sz="1300" dirty="0"/>
          </a:p>
        </p:txBody>
      </p:sp>
      <p:sp>
        <p:nvSpPr>
          <p:cNvPr id="12" name="Arrow A"/>
          <p:cNvSpPr/>
          <p:nvPr/>
        </p:nvSpPr>
        <p:spPr>
          <a:xfrm>
            <a:off x="3063240" y="2011680"/>
            <a:ext cx="411480" cy="274320"/>
          </a:xfrm>
          <a:prstGeom prst="rightArrow">
            <a:avLst/>
          </a:prstGeom>
          <a:solidFill>
            <a:schemeClr val="accent1"/>
          </a:solidFill>
          <a:ln w="12700">
            <a:solidFill>
              <a:schemeClr val="accent1"/>
            </a:solidFill>
            <a:prstDash val="solid"/>
          </a:ln>
        </p:spPr>
      </p:sp>
      <p:sp>
        <p:nvSpPr>
          <p:cNvPr id="13" name="Arrow B"/>
          <p:cNvSpPr/>
          <p:nvPr/>
        </p:nvSpPr>
        <p:spPr>
          <a:xfrm>
            <a:off x="6035040" y="2011680"/>
            <a:ext cx="411480" cy="274320"/>
          </a:xfrm>
          <a:prstGeom prst="rightArrow">
            <a:avLst/>
          </a:prstGeom>
          <a:solidFill>
            <a:schemeClr val="accent1"/>
          </a:solidFill>
          <a:ln w="12700">
            <a:solidFill>
              <a:schemeClr val="accent1"/>
            </a:solidFill>
            <a:prstDash val="solid"/>
          </a:ln>
        </p:spPr>
      </p:sp>
      <p:sp>
        <p:nvSpPr>
          <p:cNvPr id="14" name="Support 1"/>
          <p:cNvSpPr/>
          <p:nvPr/>
        </p:nvSpPr>
        <p:spPr>
          <a:xfrm>
            <a:off x="548640" y="3200400"/>
            <a:ext cx="2560320" cy="1188720"/>
          </a:xfrm>
          <a:prstGeom prst="roundRect">
            <a:avLst>
              <a:gd name="adj" fmla="val 9231"/>
            </a:avLst>
          </a:prstGeom>
          <a:solidFill>
            <a:schemeClr val="bg2"/>
          </a:solidFill>
          <a:ln w="12700">
            <a:solidFill>
              <a:schemeClr val="bg2"/>
            </a:solidFill>
            <a:prstDash val="solid"/>
          </a:ln>
        </p:spPr>
      </p:sp>
      <p:sp>
        <p:nvSpPr>
          <p:cNvPr id="15" name="Text 13"/>
          <p:cNvSpPr txBox="1"/>
          <p:nvPr/>
        </p:nvSpPr>
        <p:spPr>
          <a:xfrm>
            <a:off x="731520" y="3310128"/>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Open-Meteo</a:t>
            </a:r>
            <a:endParaRPr lang="en-US" sz="1600" dirty="0"/>
          </a:p>
        </p:txBody>
      </p:sp>
      <p:sp>
        <p:nvSpPr>
          <p:cNvPr id="16" name="Text 14"/>
          <p:cNvSpPr txBox="1"/>
          <p:nvPr/>
        </p:nvSpPr>
        <p:spPr>
          <a:xfrm>
            <a:off x="731520" y="3675888"/>
            <a:ext cx="2194560" cy="640080"/>
          </a:xfrm>
          <a:prstGeom prst="rect">
            <a:avLst/>
          </a:prstGeom>
          <a:noFill/>
          <a:ln/>
        </p:spPr>
        <p:txBody>
          <a:bodyPr wrap="square" lIns="0" tIns="0" rIns="0" bIns="0" rtlCol="0" anchor="t"/>
          <a:lstStyle/>
          <a:p>
            <a:pPr indent="0" marL="0">
              <a:buNone/>
            </a:pPr>
            <a:r>
              <a:rPr lang="en-US" sz="1300" dirty="0">
                <a:solidFill>
                  <a:schemeClr val="tx2"/>
                </a:solidFill>
              </a:rPr>
              <a:t>Geocoding, weather and 10-year rain history</a:t>
            </a:r>
            <a:endParaRPr lang="en-US" sz="1300" dirty="0"/>
          </a:p>
        </p:txBody>
      </p:sp>
      <p:sp>
        <p:nvSpPr>
          <p:cNvPr id="17" name="Support 2"/>
          <p:cNvSpPr/>
          <p:nvPr/>
        </p:nvSpPr>
        <p:spPr>
          <a:xfrm>
            <a:off x="3291840" y="3200400"/>
            <a:ext cx="2560320" cy="1188720"/>
          </a:xfrm>
          <a:prstGeom prst="roundRect">
            <a:avLst>
              <a:gd name="adj" fmla="val 9231"/>
            </a:avLst>
          </a:prstGeom>
          <a:solidFill>
            <a:schemeClr val="bg2"/>
          </a:solidFill>
          <a:ln w="12700">
            <a:solidFill>
              <a:schemeClr val="bg2"/>
            </a:solidFill>
            <a:prstDash val="solid"/>
          </a:ln>
        </p:spPr>
      </p:sp>
      <p:sp>
        <p:nvSpPr>
          <p:cNvPr id="18" name="Text 16"/>
          <p:cNvSpPr txBox="1"/>
          <p:nvPr/>
        </p:nvSpPr>
        <p:spPr>
          <a:xfrm>
            <a:off x="3474720" y="3310128"/>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Statistics</a:t>
            </a:r>
            <a:endParaRPr lang="en-US" sz="1600" dirty="0"/>
          </a:p>
        </p:txBody>
      </p:sp>
      <p:sp>
        <p:nvSpPr>
          <p:cNvPr id="19" name="Text 17"/>
          <p:cNvSpPr txBox="1"/>
          <p:nvPr/>
        </p:nvSpPr>
        <p:spPr>
          <a:xfrm>
            <a:off x="3474720" y="3675888"/>
            <a:ext cx="2194560" cy="640080"/>
          </a:xfrm>
          <a:prstGeom prst="rect">
            <a:avLst/>
          </a:prstGeom>
          <a:noFill/>
          <a:ln/>
        </p:spPr>
        <p:txBody>
          <a:bodyPr wrap="square" lIns="0" tIns="0" rIns="0" bIns="0" rtlCol="0" anchor="t"/>
          <a:lstStyle/>
          <a:p>
            <a:pPr indent="0" marL="0">
              <a:buNone/>
            </a:pPr>
            <a:r>
              <a:rPr lang="en-US" sz="1300" dirty="0">
                <a:solidFill>
                  <a:schemeClr val="tx2"/>
                </a:solidFill>
              </a:rPr>
              <a:t>Theil-Sen, bootstrap, change-point, k-means</a:t>
            </a:r>
            <a:endParaRPr lang="en-US" sz="1300" dirty="0"/>
          </a:p>
        </p:txBody>
      </p:sp>
      <p:sp>
        <p:nvSpPr>
          <p:cNvPr id="20" name="Support 3"/>
          <p:cNvSpPr/>
          <p:nvPr/>
        </p:nvSpPr>
        <p:spPr>
          <a:xfrm>
            <a:off x="6035040" y="3200400"/>
            <a:ext cx="2560320" cy="1188720"/>
          </a:xfrm>
          <a:prstGeom prst="roundRect">
            <a:avLst>
              <a:gd name="adj" fmla="val 9231"/>
            </a:avLst>
          </a:prstGeom>
          <a:solidFill>
            <a:schemeClr val="bg2"/>
          </a:solidFill>
          <a:ln w="12700">
            <a:solidFill>
              <a:schemeClr val="bg2"/>
            </a:solidFill>
            <a:prstDash val="solid"/>
          </a:ln>
        </p:spPr>
      </p:sp>
      <p:sp>
        <p:nvSpPr>
          <p:cNvPr id="21" name="Text 19"/>
          <p:cNvSpPr txBox="1"/>
          <p:nvPr/>
        </p:nvSpPr>
        <p:spPr>
          <a:xfrm>
            <a:off x="6217920" y="3310128"/>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Hosting</a:t>
            </a:r>
            <a:endParaRPr lang="en-US" sz="1600" dirty="0"/>
          </a:p>
        </p:txBody>
      </p:sp>
      <p:sp>
        <p:nvSpPr>
          <p:cNvPr id="22" name="Text 20"/>
          <p:cNvSpPr txBox="1"/>
          <p:nvPr/>
        </p:nvSpPr>
        <p:spPr>
          <a:xfrm>
            <a:off x="6217920" y="3675888"/>
            <a:ext cx="2194560" cy="640080"/>
          </a:xfrm>
          <a:prstGeom prst="rect">
            <a:avLst/>
          </a:prstGeom>
          <a:noFill/>
          <a:ln/>
        </p:spPr>
        <p:txBody>
          <a:bodyPr wrap="square" lIns="0" tIns="0" rIns="0" bIns="0" rtlCol="0" anchor="t"/>
          <a:lstStyle/>
          <a:p>
            <a:pPr indent="0" marL="0">
              <a:buNone/>
            </a:pPr>
            <a:r>
              <a:rPr lang="en-US" sz="1300" dirty="0">
                <a:solidFill>
                  <a:schemeClr val="tx2"/>
                </a:solidFill>
              </a:rPr>
              <a:t>GitHub Pages and Render, CI with pytest and Node tests</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What the farmer gets</a:t>
            </a:r>
            <a:endParaRPr lang="en-US" sz="3600" dirty="0"/>
          </a:p>
        </p:txBody>
      </p:sp>
      <p:sp>
        <p:nvSpPr>
          <p:cNvPr id="3" name="Feature 1"/>
          <p:cNvSpPr/>
          <p:nvPr/>
        </p:nvSpPr>
        <p:spPr>
          <a:xfrm>
            <a:off x="548640" y="1371600"/>
            <a:ext cx="2560320" cy="1463040"/>
          </a:xfrm>
          <a:prstGeom prst="roundRect">
            <a:avLst>
              <a:gd name="adj" fmla="val 7500"/>
            </a:avLst>
          </a:prstGeom>
          <a:solidFill>
            <a:schemeClr val="bg2"/>
          </a:solidFill>
          <a:ln w="12700">
            <a:solidFill>
              <a:schemeClr val="bg2"/>
            </a:solidFill>
            <a:prstDash val="solid"/>
          </a:ln>
        </p:spPr>
      </p:sp>
      <p:sp>
        <p:nvSpPr>
          <p:cNvPr id="4" name="Loss with a range badge"/>
          <p:cNvSpPr/>
          <p:nvPr/>
        </p:nvSpPr>
        <p:spPr>
          <a:xfrm>
            <a:off x="731520" y="1554480"/>
            <a:ext cx="502920" cy="502920"/>
          </a:xfrm>
          <a:prstGeom prst="ellipse">
            <a:avLst/>
          </a:prstGeom>
          <a:solidFill>
            <a:schemeClr val="tx1"/>
          </a:solidFill>
          <a:ln w="12700">
            <a:solidFill>
              <a:schemeClr val="tx1"/>
            </a:solidFill>
            <a:prstDash val="solid"/>
          </a:ln>
        </p:spPr>
      </p:sp>
      <p:pic>
        <p:nvPicPr>
          <p:cNvPr id="5" name="Loss with a range icon" descr="Loss with a range">    </p:cNvPr>
          <p:cNvPicPr>
            <a:picLocks noChangeAspect="1"/>
          </p:cNvPicPr>
          <p:nvPr/>
        </p:nvPicPr>
        <p:blipFill>
          <a:blip r:embed="rId1"/>
          <a:stretch>
            <a:fillRect/>
          </a:stretch>
        </p:blipFill>
        <p:spPr>
          <a:xfrm>
            <a:off x="857250" y="1680210"/>
            <a:ext cx="251460" cy="251460"/>
          </a:xfrm>
          <a:prstGeom prst="rect">
            <a:avLst/>
          </a:prstGeom>
        </p:spPr>
      </p:pic>
      <p:sp>
        <p:nvSpPr>
          <p:cNvPr id="6" name="Text 3"/>
          <p:cNvSpPr txBox="1"/>
          <p:nvPr/>
        </p:nvSpPr>
        <p:spPr>
          <a:xfrm>
            <a:off x="1371600" y="157276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Loss with a range</a:t>
            </a:r>
            <a:endParaRPr lang="en-US" sz="1600" dirty="0"/>
          </a:p>
        </p:txBody>
      </p:sp>
      <p:sp>
        <p:nvSpPr>
          <p:cNvPr id="7" name="Text 4"/>
          <p:cNvSpPr txBox="1"/>
          <p:nvPr/>
        </p:nvSpPr>
        <p:spPr>
          <a:xfrm>
            <a:off x="731520" y="2194560"/>
            <a:ext cx="2240280" cy="548640"/>
          </a:xfrm>
          <a:prstGeom prst="rect">
            <a:avLst/>
          </a:prstGeom>
          <a:noFill/>
          <a:ln/>
        </p:spPr>
        <p:txBody>
          <a:bodyPr wrap="square" lIns="0" tIns="0" rIns="0" bIns="0" rtlCol="0" anchor="t"/>
          <a:lstStyle/>
          <a:p>
            <a:pPr indent="0" marL="0">
              <a:buNone/>
            </a:pPr>
            <a:r>
              <a:rPr lang="en-US" sz="1300" dirty="0">
                <a:solidFill>
                  <a:schemeClr val="tx2"/>
                </a:solidFill>
              </a:rPr>
              <a:t>Vegetation loss with a 95% interval, not one number.</a:t>
            </a:r>
            <a:endParaRPr lang="en-US" sz="1300" dirty="0"/>
          </a:p>
        </p:txBody>
      </p:sp>
      <p:sp>
        <p:nvSpPr>
          <p:cNvPr id="8" name="Feature 2"/>
          <p:cNvSpPr/>
          <p:nvPr/>
        </p:nvSpPr>
        <p:spPr>
          <a:xfrm>
            <a:off x="3291840" y="1371600"/>
            <a:ext cx="2560320" cy="1463040"/>
          </a:xfrm>
          <a:prstGeom prst="roundRect">
            <a:avLst>
              <a:gd name="adj" fmla="val 7500"/>
            </a:avLst>
          </a:prstGeom>
          <a:solidFill>
            <a:schemeClr val="bg2"/>
          </a:solidFill>
          <a:ln w="12700">
            <a:solidFill>
              <a:schemeClr val="bg2"/>
            </a:solidFill>
            <a:prstDash val="solid"/>
          </a:ln>
        </p:spPr>
      </p:sp>
      <p:sp>
        <p:nvSpPr>
          <p:cNvPr id="9" name="Damage-zone map badge"/>
          <p:cNvSpPr/>
          <p:nvPr/>
        </p:nvSpPr>
        <p:spPr>
          <a:xfrm>
            <a:off x="3474720" y="1554480"/>
            <a:ext cx="502920" cy="502920"/>
          </a:xfrm>
          <a:prstGeom prst="ellipse">
            <a:avLst/>
          </a:prstGeom>
          <a:solidFill>
            <a:schemeClr val="tx1"/>
          </a:solidFill>
          <a:ln w="12700">
            <a:solidFill>
              <a:schemeClr val="tx1"/>
            </a:solidFill>
            <a:prstDash val="solid"/>
          </a:ln>
        </p:spPr>
      </p:sp>
      <p:pic>
        <p:nvPicPr>
          <p:cNvPr id="10" name="Damage-zone map icon" descr="Damage-zone map">    </p:cNvPr>
          <p:cNvPicPr>
            <a:picLocks noChangeAspect="1"/>
          </p:cNvPicPr>
          <p:nvPr/>
        </p:nvPicPr>
        <p:blipFill>
          <a:blip r:embed="rId2"/>
          <a:stretch>
            <a:fillRect/>
          </a:stretch>
        </p:blipFill>
        <p:spPr>
          <a:xfrm>
            <a:off x="3600450" y="1680210"/>
            <a:ext cx="251460" cy="251460"/>
          </a:xfrm>
          <a:prstGeom prst="rect">
            <a:avLst/>
          </a:prstGeom>
        </p:spPr>
      </p:pic>
      <p:sp>
        <p:nvSpPr>
          <p:cNvPr id="11" name="Text 7"/>
          <p:cNvSpPr txBox="1"/>
          <p:nvPr/>
        </p:nvSpPr>
        <p:spPr>
          <a:xfrm>
            <a:off x="4114800" y="157276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Damage-zone map</a:t>
            </a:r>
            <a:endParaRPr lang="en-US" sz="1600" dirty="0"/>
          </a:p>
        </p:txBody>
      </p:sp>
      <p:sp>
        <p:nvSpPr>
          <p:cNvPr id="12" name="Text 8"/>
          <p:cNvSpPr txBox="1"/>
          <p:nvPr/>
        </p:nvSpPr>
        <p:spPr>
          <a:xfrm>
            <a:off x="3474720" y="2194560"/>
            <a:ext cx="2240280" cy="548640"/>
          </a:xfrm>
          <a:prstGeom prst="rect">
            <a:avLst/>
          </a:prstGeom>
          <a:noFill/>
          <a:ln/>
        </p:spPr>
        <p:txBody>
          <a:bodyPr wrap="square" lIns="0" tIns="0" rIns="0" bIns="0" rtlCol="0" anchor="t"/>
          <a:lstStyle/>
          <a:p>
            <a:pPr indent="0" marL="0">
              <a:buNone/>
            </a:pPr>
            <a:r>
              <a:rPr lang="en-US" sz="1300" dirty="0">
                <a:solidFill>
                  <a:schemeClr val="tx2"/>
                </a:solidFill>
              </a:rPr>
              <a:t>Severe, moderate and stable zones on the field.</a:t>
            </a:r>
            <a:endParaRPr lang="en-US" sz="1300" dirty="0"/>
          </a:p>
        </p:txBody>
      </p:sp>
      <p:sp>
        <p:nvSpPr>
          <p:cNvPr id="13" name="Feature 3"/>
          <p:cNvSpPr/>
          <p:nvPr/>
        </p:nvSpPr>
        <p:spPr>
          <a:xfrm>
            <a:off x="6035040" y="1371600"/>
            <a:ext cx="2560320" cy="1463040"/>
          </a:xfrm>
          <a:prstGeom prst="roundRect">
            <a:avLst>
              <a:gd name="adj" fmla="val 7500"/>
            </a:avLst>
          </a:prstGeom>
          <a:solidFill>
            <a:schemeClr val="bg2"/>
          </a:solidFill>
          <a:ln w="12700">
            <a:solidFill>
              <a:schemeClr val="bg2"/>
            </a:solidFill>
            <a:prstDash val="solid"/>
          </a:ln>
        </p:spPr>
      </p:sp>
      <p:sp>
        <p:nvSpPr>
          <p:cNvPr id="14" name="Weather check badge"/>
          <p:cNvSpPr/>
          <p:nvPr/>
        </p:nvSpPr>
        <p:spPr>
          <a:xfrm>
            <a:off x="6217920" y="1554480"/>
            <a:ext cx="502920" cy="502920"/>
          </a:xfrm>
          <a:prstGeom prst="ellipse">
            <a:avLst/>
          </a:prstGeom>
          <a:solidFill>
            <a:schemeClr val="tx1"/>
          </a:solidFill>
          <a:ln w="12700">
            <a:solidFill>
              <a:schemeClr val="tx1"/>
            </a:solidFill>
            <a:prstDash val="solid"/>
          </a:ln>
        </p:spPr>
      </p:sp>
      <p:pic>
        <p:nvPicPr>
          <p:cNvPr id="15" name="Weather check icon" descr="Weather check">    </p:cNvPr>
          <p:cNvPicPr>
            <a:picLocks noChangeAspect="1"/>
          </p:cNvPicPr>
          <p:nvPr/>
        </p:nvPicPr>
        <p:blipFill>
          <a:blip r:embed="rId3"/>
          <a:stretch>
            <a:fillRect/>
          </a:stretch>
        </p:blipFill>
        <p:spPr>
          <a:xfrm>
            <a:off x="6343650" y="1680210"/>
            <a:ext cx="251460" cy="251460"/>
          </a:xfrm>
          <a:prstGeom prst="rect">
            <a:avLst/>
          </a:prstGeom>
        </p:spPr>
      </p:pic>
      <p:sp>
        <p:nvSpPr>
          <p:cNvPr id="16" name="Text 11"/>
          <p:cNvSpPr txBox="1"/>
          <p:nvPr/>
        </p:nvSpPr>
        <p:spPr>
          <a:xfrm>
            <a:off x="6858000" y="157276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Weather check</a:t>
            </a:r>
            <a:endParaRPr lang="en-US" sz="1600" dirty="0"/>
          </a:p>
        </p:txBody>
      </p:sp>
      <p:sp>
        <p:nvSpPr>
          <p:cNvPr id="17" name="Text 12"/>
          <p:cNvSpPr txBox="1"/>
          <p:nvPr/>
        </p:nvSpPr>
        <p:spPr>
          <a:xfrm>
            <a:off x="6217920" y="2194560"/>
            <a:ext cx="2240280" cy="548640"/>
          </a:xfrm>
          <a:prstGeom prst="rect">
            <a:avLst/>
          </a:prstGeom>
          <a:noFill/>
          <a:ln/>
        </p:spPr>
        <p:txBody>
          <a:bodyPr wrap="square" lIns="0" tIns="0" rIns="0" bIns="0" rtlCol="0" anchor="t"/>
          <a:lstStyle/>
          <a:p>
            <a:pPr indent="0" marL="0">
              <a:buNone/>
            </a:pPr>
            <a:r>
              <a:rPr lang="en-US" sz="1300" dirty="0">
                <a:solidFill>
                  <a:schemeClr val="tx2"/>
                </a:solidFill>
              </a:rPr>
              <a:t>Rain ranked against that place's own 10 years.</a:t>
            </a:r>
            <a:endParaRPr lang="en-US" sz="1300" dirty="0"/>
          </a:p>
        </p:txBody>
      </p:sp>
      <p:sp>
        <p:nvSpPr>
          <p:cNvPr id="18" name="Feature 4"/>
          <p:cNvSpPr/>
          <p:nvPr/>
        </p:nvSpPr>
        <p:spPr>
          <a:xfrm>
            <a:off x="548640" y="3017520"/>
            <a:ext cx="2560320" cy="1463040"/>
          </a:xfrm>
          <a:prstGeom prst="roundRect">
            <a:avLst>
              <a:gd name="adj" fmla="val 7500"/>
            </a:avLst>
          </a:prstGeom>
          <a:solidFill>
            <a:schemeClr val="bg2"/>
          </a:solidFill>
          <a:ln w="12700">
            <a:solidFill>
              <a:schemeClr val="bg2"/>
            </a:solidFill>
            <a:prstDash val="solid"/>
          </a:ln>
        </p:spPr>
      </p:sp>
      <p:sp>
        <p:nvSpPr>
          <p:cNvPr id="19" name="Crop-aware badge"/>
          <p:cNvSpPr/>
          <p:nvPr/>
        </p:nvSpPr>
        <p:spPr>
          <a:xfrm>
            <a:off x="731520" y="3200400"/>
            <a:ext cx="502920" cy="502920"/>
          </a:xfrm>
          <a:prstGeom prst="ellipse">
            <a:avLst/>
          </a:prstGeom>
          <a:solidFill>
            <a:schemeClr val="tx1"/>
          </a:solidFill>
          <a:ln w="12700">
            <a:solidFill>
              <a:schemeClr val="tx1"/>
            </a:solidFill>
            <a:prstDash val="solid"/>
          </a:ln>
        </p:spPr>
      </p:sp>
      <p:pic>
        <p:nvPicPr>
          <p:cNvPr id="20" name="Crop-aware icon" descr="Crop-aware">    </p:cNvPr>
          <p:cNvPicPr>
            <a:picLocks noChangeAspect="1"/>
          </p:cNvPicPr>
          <p:nvPr/>
        </p:nvPicPr>
        <p:blipFill>
          <a:blip r:embed="rId4"/>
          <a:stretch>
            <a:fillRect/>
          </a:stretch>
        </p:blipFill>
        <p:spPr>
          <a:xfrm>
            <a:off x="857250" y="3326130"/>
            <a:ext cx="251460" cy="251460"/>
          </a:xfrm>
          <a:prstGeom prst="rect">
            <a:avLst/>
          </a:prstGeom>
        </p:spPr>
      </p:pic>
      <p:sp>
        <p:nvSpPr>
          <p:cNvPr id="21" name="Text 15"/>
          <p:cNvSpPr txBox="1"/>
          <p:nvPr/>
        </p:nvSpPr>
        <p:spPr>
          <a:xfrm>
            <a:off x="1371600" y="321868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Crop-aware</a:t>
            </a:r>
            <a:endParaRPr lang="en-US" sz="1600" dirty="0"/>
          </a:p>
        </p:txBody>
      </p:sp>
      <p:sp>
        <p:nvSpPr>
          <p:cNvPr id="22" name="Text 16"/>
          <p:cNvSpPr txBox="1"/>
          <p:nvPr/>
        </p:nvSpPr>
        <p:spPr>
          <a:xfrm>
            <a:off x="731520" y="3840480"/>
            <a:ext cx="2240280" cy="548640"/>
          </a:xfrm>
          <a:prstGeom prst="rect">
            <a:avLst/>
          </a:prstGeom>
          <a:noFill/>
          <a:ln/>
        </p:spPr>
        <p:txBody>
          <a:bodyPr wrap="square" lIns="0" tIns="0" rIns="0" bIns="0" rtlCol="0" anchor="t"/>
          <a:lstStyle/>
          <a:p>
            <a:pPr indent="0" marL="0">
              <a:buNone/>
            </a:pPr>
            <a:r>
              <a:rPr lang="en-US" sz="1300" dirty="0">
                <a:solidFill>
                  <a:schemeClr val="tx2"/>
                </a:solidFill>
              </a:rPr>
              <a:t>20 crops, growth stage and ripening guard.</a:t>
            </a:r>
            <a:endParaRPr lang="en-US" sz="1300" dirty="0"/>
          </a:p>
        </p:txBody>
      </p:sp>
      <p:sp>
        <p:nvSpPr>
          <p:cNvPr id="23" name="Feature 5"/>
          <p:cNvSpPr/>
          <p:nvPr/>
        </p:nvSpPr>
        <p:spPr>
          <a:xfrm>
            <a:off x="3291840" y="3017520"/>
            <a:ext cx="2560320" cy="1463040"/>
          </a:xfrm>
          <a:prstGeom prst="roundRect">
            <a:avLst>
              <a:gd name="adj" fmla="val 7500"/>
            </a:avLst>
          </a:prstGeom>
          <a:solidFill>
            <a:schemeClr val="bg2"/>
          </a:solidFill>
          <a:ln w="12700">
            <a:solidFill>
              <a:schemeClr val="bg2"/>
            </a:solidFill>
            <a:prstDash val="solid"/>
          </a:ln>
        </p:spPr>
      </p:sp>
      <p:sp>
        <p:nvSpPr>
          <p:cNvPr id="24" name="Signed report badge"/>
          <p:cNvSpPr/>
          <p:nvPr/>
        </p:nvSpPr>
        <p:spPr>
          <a:xfrm>
            <a:off x="3474720" y="3200400"/>
            <a:ext cx="502920" cy="502920"/>
          </a:xfrm>
          <a:prstGeom prst="ellipse">
            <a:avLst/>
          </a:prstGeom>
          <a:solidFill>
            <a:schemeClr val="tx1"/>
          </a:solidFill>
          <a:ln w="12700">
            <a:solidFill>
              <a:schemeClr val="tx1"/>
            </a:solidFill>
            <a:prstDash val="solid"/>
          </a:ln>
        </p:spPr>
      </p:sp>
      <p:pic>
        <p:nvPicPr>
          <p:cNvPr id="25" name="Signed report icon" descr="Signed report">    </p:cNvPr>
          <p:cNvPicPr>
            <a:picLocks noChangeAspect="1"/>
          </p:cNvPicPr>
          <p:nvPr/>
        </p:nvPicPr>
        <p:blipFill>
          <a:blip r:embed="rId5"/>
          <a:stretch>
            <a:fillRect/>
          </a:stretch>
        </p:blipFill>
        <p:spPr>
          <a:xfrm>
            <a:off x="3600450" y="3326130"/>
            <a:ext cx="251460" cy="251460"/>
          </a:xfrm>
          <a:prstGeom prst="rect">
            <a:avLst/>
          </a:prstGeom>
        </p:spPr>
      </p:pic>
      <p:sp>
        <p:nvSpPr>
          <p:cNvPr id="26" name="Text 19"/>
          <p:cNvSpPr txBox="1"/>
          <p:nvPr/>
        </p:nvSpPr>
        <p:spPr>
          <a:xfrm>
            <a:off x="4114800" y="321868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Signed report</a:t>
            </a:r>
            <a:endParaRPr lang="en-US" sz="1600" dirty="0"/>
          </a:p>
        </p:txBody>
      </p:sp>
      <p:sp>
        <p:nvSpPr>
          <p:cNvPr id="27" name="Text 20"/>
          <p:cNvSpPr txBox="1"/>
          <p:nvPr/>
        </p:nvSpPr>
        <p:spPr>
          <a:xfrm>
            <a:off x="3474720" y="3840480"/>
            <a:ext cx="2240280" cy="548640"/>
          </a:xfrm>
          <a:prstGeom prst="rect">
            <a:avLst/>
          </a:prstGeom>
          <a:noFill/>
          <a:ln/>
        </p:spPr>
        <p:txBody>
          <a:bodyPr wrap="square" lIns="0" tIns="0" rIns="0" bIns="0" rtlCol="0" anchor="t"/>
          <a:lstStyle/>
          <a:p>
            <a:pPr indent="0" marL="0">
              <a:buNone/>
            </a:pPr>
            <a:r>
              <a:rPr lang="en-US" sz="1300" dirty="0">
                <a:solidFill>
                  <a:schemeClr val="tx2"/>
                </a:solidFill>
              </a:rPr>
              <a:t>Anyone can verify it has not been edited.</a:t>
            </a:r>
            <a:endParaRPr lang="en-US" sz="1300" dirty="0"/>
          </a:p>
        </p:txBody>
      </p:sp>
      <p:sp>
        <p:nvSpPr>
          <p:cNvPr id="28" name="Feature 6"/>
          <p:cNvSpPr/>
          <p:nvPr/>
        </p:nvSpPr>
        <p:spPr>
          <a:xfrm>
            <a:off x="6035040" y="3017520"/>
            <a:ext cx="2560320" cy="1463040"/>
          </a:xfrm>
          <a:prstGeom prst="roundRect">
            <a:avLst>
              <a:gd name="adj" fmla="val 7500"/>
            </a:avLst>
          </a:prstGeom>
          <a:solidFill>
            <a:schemeClr val="bg2"/>
          </a:solidFill>
          <a:ln w="12700">
            <a:solidFill>
              <a:schemeClr val="bg2"/>
            </a:solidFill>
            <a:prstDash val="solid"/>
          </a:ln>
        </p:spPr>
      </p:sp>
      <p:sp>
        <p:nvSpPr>
          <p:cNvPr id="29" name="Six languages badge"/>
          <p:cNvSpPr/>
          <p:nvPr/>
        </p:nvSpPr>
        <p:spPr>
          <a:xfrm>
            <a:off x="6217920" y="3200400"/>
            <a:ext cx="502920" cy="502920"/>
          </a:xfrm>
          <a:prstGeom prst="ellipse">
            <a:avLst/>
          </a:prstGeom>
          <a:solidFill>
            <a:schemeClr val="tx1"/>
          </a:solidFill>
          <a:ln w="12700">
            <a:solidFill>
              <a:schemeClr val="tx1"/>
            </a:solidFill>
            <a:prstDash val="solid"/>
          </a:ln>
        </p:spPr>
      </p:sp>
      <p:pic>
        <p:nvPicPr>
          <p:cNvPr id="30" name="Six languages icon" descr="Six languages">    </p:cNvPr>
          <p:cNvPicPr>
            <a:picLocks noChangeAspect="1"/>
          </p:cNvPicPr>
          <p:nvPr/>
        </p:nvPicPr>
        <p:blipFill>
          <a:blip r:embed="rId6"/>
          <a:stretch>
            <a:fillRect/>
          </a:stretch>
        </p:blipFill>
        <p:spPr>
          <a:xfrm>
            <a:off x="6343650" y="3326130"/>
            <a:ext cx="251460" cy="251460"/>
          </a:xfrm>
          <a:prstGeom prst="rect">
            <a:avLst/>
          </a:prstGeom>
        </p:spPr>
      </p:pic>
      <p:sp>
        <p:nvSpPr>
          <p:cNvPr id="31" name="Text 23"/>
          <p:cNvSpPr txBox="1"/>
          <p:nvPr/>
        </p:nvSpPr>
        <p:spPr>
          <a:xfrm>
            <a:off x="6858000" y="321868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Six languages</a:t>
            </a:r>
            <a:endParaRPr lang="en-US" sz="1600" dirty="0"/>
          </a:p>
        </p:txBody>
      </p:sp>
      <p:sp>
        <p:nvSpPr>
          <p:cNvPr id="32" name="Text 24"/>
          <p:cNvSpPr txBox="1"/>
          <p:nvPr/>
        </p:nvSpPr>
        <p:spPr>
          <a:xfrm>
            <a:off x="6217920" y="3840480"/>
            <a:ext cx="2240280" cy="548640"/>
          </a:xfrm>
          <a:prstGeom prst="rect">
            <a:avLst/>
          </a:prstGeom>
          <a:noFill/>
          <a:ln/>
        </p:spPr>
        <p:txBody>
          <a:bodyPr wrap="square" lIns="0" tIns="0" rIns="0" bIns="0" rtlCol="0" anchor="t"/>
          <a:lstStyle/>
          <a:p>
            <a:pPr indent="0" marL="0">
              <a:buNone/>
            </a:pPr>
            <a:r>
              <a:rPr lang="en-US" sz="1300" dirty="0">
                <a:solidFill>
                  <a:schemeClr val="tx2"/>
                </a:solidFill>
              </a:rPr>
              <a:t>Assistant, letter and report, worldwide.</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Honest by design</a:t>
            </a:r>
            <a:endParaRPr lang="en-US" sz="3600" dirty="0"/>
          </a:p>
        </p:txBody>
      </p:sp>
      <p:sp>
        <p:nvSpPr>
          <p:cNvPr id="3" name="Limits card"/>
          <p:cNvSpPr/>
          <p:nvPr/>
        </p:nvSpPr>
        <p:spPr>
          <a:xfrm>
            <a:off x="548640" y="1371600"/>
            <a:ext cx="3931920" cy="3108960"/>
          </a:xfrm>
          <a:prstGeom prst="roundRect">
            <a:avLst>
              <a:gd name="adj" fmla="val 3529"/>
            </a:avLst>
          </a:prstGeom>
          <a:solidFill>
            <a:schemeClr val="bg2"/>
          </a:solidFill>
          <a:ln w="12700">
            <a:solidFill>
              <a:schemeClr val="bg2"/>
            </a:solidFill>
            <a:prstDash val="solid"/>
          </a:ln>
        </p:spPr>
      </p:sp>
      <p:sp>
        <p:nvSpPr>
          <p:cNvPr id="4" name="Validation card"/>
          <p:cNvSpPr/>
          <p:nvPr/>
        </p:nvSpPr>
        <p:spPr>
          <a:xfrm>
            <a:off x="4663440" y="1371600"/>
            <a:ext cx="3931920" cy="310896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777240" y="155448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Limits we show on screen</a:t>
            </a:r>
            <a:endParaRPr lang="en-US" sz="2000" dirty="0"/>
          </a:p>
        </p:txBody>
      </p:sp>
      <p:sp>
        <p:nvSpPr>
          <p:cNvPr id="6" name="Text 4"/>
          <p:cNvSpPr txBox="1"/>
          <p:nvPr/>
        </p:nvSpPr>
        <p:spPr>
          <a:xfrm>
            <a:off x="777240" y="2011680"/>
            <a:ext cx="34747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Supporting evidence, not an official assessment</a:t>
            </a:r>
            <a:endParaRPr lang="en-US" sz="1400" dirty="0"/>
          </a:p>
          <a:p>
            <a:pPr marL="342900" indent="-342900">
              <a:spcAft>
                <a:spcPts val="800"/>
              </a:spcAft>
              <a:buSzPct val="100000"/>
              <a:buChar char="•"/>
            </a:pPr>
            <a:r>
              <a:rPr lang="en-US" sz="1400" dirty="0">
                <a:solidFill>
                  <a:schemeClr val="tx2"/>
                </a:solidFill>
              </a:rPr>
              <a:t>No accuracy figure claimed yet</a:t>
            </a:r>
            <a:endParaRPr lang="en-US" sz="1400" dirty="0"/>
          </a:p>
          <a:p>
            <a:pPr marL="342900" indent="-342900">
              <a:spcAft>
                <a:spcPts val="800"/>
              </a:spcAft>
              <a:buSzPct val="100000"/>
              <a:buChar char="•"/>
            </a:pPr>
            <a:r>
              <a:rPr lang="en-US" sz="1400" dirty="0">
                <a:solidFill>
                  <a:schemeClr val="tx2"/>
                </a:solidFill>
              </a:rPr>
              <a:t>Stage data are regional averages</a:t>
            </a:r>
            <a:endParaRPr lang="en-US" sz="1400" dirty="0"/>
          </a:p>
          <a:p>
            <a:pPr marL="342900" indent="-342900">
              <a:spcAft>
                <a:spcPts val="800"/>
              </a:spcAft>
              <a:buSzPct val="100000"/>
              <a:buChar char="•"/>
            </a:pPr>
            <a:r>
              <a:rPr lang="en-US" sz="1400" dirty="0">
                <a:solidFill>
                  <a:schemeClr val="tx2"/>
                </a:solidFill>
              </a:rPr>
              <a:t>Rules and sum insured come from the policy</a:t>
            </a:r>
            <a:endParaRPr lang="en-US" sz="1400" dirty="0"/>
          </a:p>
        </p:txBody>
      </p:sp>
      <p:sp>
        <p:nvSpPr>
          <p:cNvPr id="7" name="Text 5"/>
          <p:cNvSpPr txBox="1"/>
          <p:nvPr/>
        </p:nvSpPr>
        <p:spPr>
          <a:xfrm>
            <a:off x="4892040" y="155448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How we will validate</a:t>
            </a:r>
            <a:endParaRPr lang="en-US" sz="2000" dirty="0"/>
          </a:p>
        </p:txBody>
      </p:sp>
      <p:sp>
        <p:nvSpPr>
          <p:cNvPr id="8" name="Text 6"/>
          <p:cNvSpPr txBox="1"/>
          <p:nvPr/>
        </p:nvSpPr>
        <p:spPr>
          <a:xfrm>
            <a:off x="4892040" y="2011680"/>
            <a:ext cx="34747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Documented damaged fields plus no-event fields</a:t>
            </a:r>
            <a:endParaRPr lang="en-US" sz="1400" dirty="0"/>
          </a:p>
          <a:p>
            <a:pPr marL="342900" indent="-342900">
              <a:spcAft>
                <a:spcPts val="800"/>
              </a:spcAft>
              <a:buSzPct val="100000"/>
              <a:buChar char="•"/>
            </a:pPr>
            <a:r>
              <a:rPr lang="en-US" sz="1400" dirty="0">
                <a:solidFill>
                  <a:schemeClr val="tx2"/>
                </a:solidFill>
              </a:rPr>
              <a:t>Precision, recall and specificity</a:t>
            </a:r>
            <a:endParaRPr lang="en-US" sz="1400" dirty="0"/>
          </a:p>
          <a:p>
            <a:pPr marL="342900" indent="-342900">
              <a:spcAft>
                <a:spcPts val="800"/>
              </a:spcAft>
              <a:buSzPct val="100000"/>
              <a:buChar char="•"/>
            </a:pPr>
            <a:r>
              <a:rPr lang="en-US" sz="1400" dirty="0">
                <a:solidFill>
                  <a:schemeClr val="tx2"/>
                </a:solidFill>
              </a:rPr>
              <a:t>Error against officially reported loss</a:t>
            </a:r>
            <a:endParaRPr lang="en-US" sz="1400" dirty="0"/>
          </a:p>
          <a:p>
            <a:pPr marL="342900" indent="-342900">
              <a:spcAft>
                <a:spcPts val="800"/>
              </a:spcAft>
              <a:buSzPct val="100000"/>
              <a:buChar char="•"/>
            </a:pPr>
            <a:r>
              <a:rPr lang="en-US" sz="1400" dirty="0">
                <a:solidFill>
                  <a:schemeClr val="tx2"/>
                </a:solidFill>
              </a:rPr>
              <a:t>Results published in the README</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5303520" cy="1371600"/>
          </a:xfrm>
          <a:prstGeom prst="rect">
            <a:avLst/>
          </a:prstGeom>
          <a:noFill/>
          <a:ln/>
        </p:spPr>
        <p:txBody>
          <a:bodyPr wrap="square" lIns="0" tIns="0" rIns="0" bIns="0" rtlCol="0" anchor="t"/>
          <a:lstStyle/>
          <a:p>
            <a:pPr algn="l" indent="0" marL="0">
              <a:buNone/>
            </a:pPr>
            <a:r>
              <a:rPr lang="en-US" sz="4000" b="1" dirty="0">
                <a:solidFill>
                  <a:schemeClr val="bg1"/>
                </a:solidFill>
              </a:rPr>
              <a:t>From evidence to claim in minutes</a:t>
            </a:r>
            <a:endParaRPr lang="en-US" sz="4000" dirty="0"/>
          </a:p>
        </p:txBody>
      </p:sp>
      <p:sp>
        <p:nvSpPr>
          <p:cNvPr id="3" name="Text 0"/>
          <p:cNvSpPr/>
          <p:nvPr>
            <p:ph idx="101" type="body" hasCustomPrompt="1"/>
          </p:nvPr>
        </p:nvSpPr>
        <p:spPr>
          <a:xfrm>
            <a:off x="548640" y="2743200"/>
            <a:ext cx="5303520" cy="548640"/>
          </a:xfrm>
          <a:prstGeom prst="rect">
            <a:avLst/>
          </a:prstGeom>
          <a:noFill/>
          <a:ln/>
        </p:spPr>
        <p:txBody>
          <a:bodyPr wrap="square" lIns="0" tIns="0" rIns="0" bIns="0" rtlCol="0"/>
          <a:lstStyle/>
          <a:p>
            <a:pPr algn="l" indent="0" marL="0">
              <a:buNone/>
            </a:pPr>
            <a:r>
              <a:rPr lang="en-US" sz="1800" dirty="0">
                <a:solidFill>
                  <a:schemeClr val="bg2"/>
                </a:solidFill>
              </a:rPr>
              <a:t>Try it now</a:t>
            </a:r>
            <a:endParaRPr lang="en-US" sz="1800" dirty="0"/>
          </a:p>
        </p:txBody>
      </p:sp>
      <p:sp>
        <p:nvSpPr>
          <p:cNvPr id="4" name="Text 2">
            <a:hlinkClick r:id="rId1" tooltip=""/>
          </p:cNvPr>
          <p:cNvSpPr txBox="1"/>
          <p:nvPr/>
        </p:nvSpPr>
        <p:spPr>
          <a:xfrm>
            <a:off x="548640" y="3291840"/>
            <a:ext cx="5486400" cy="411480"/>
          </a:xfrm>
          <a:prstGeom prst="rect">
            <a:avLst/>
          </a:prstGeom>
          <a:noFill/>
          <a:ln/>
        </p:spPr>
        <p:txBody>
          <a:bodyPr wrap="square" lIns="0" tIns="0" rIns="0" bIns="0" rtlCol="0" anchor="ctr"/>
          <a:lstStyle/>
          <a:p>
            <a:pPr indent="0" marL="0">
              <a:buNone/>
            </a:pPr>
            <a:r>
              <a:rPr lang="en-US" sz="20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shahaadi2025-bit.github.io/fasalproof</a:t>
            </a:r>
            <a:endParaRPr lang="en-US" sz="2000" dirty="0"/>
          </a:p>
        </p:txBody>
      </p:sp>
      <p:sp>
        <p:nvSpPr>
          <p:cNvPr id="5" name="Text 3"/>
          <p:cNvSpPr txBox="1"/>
          <p:nvPr/>
        </p:nvSpPr>
        <p:spPr>
          <a:xfrm>
            <a:off x="548640" y="3886200"/>
            <a:ext cx="5303520" cy="731520"/>
          </a:xfrm>
          <a:prstGeom prst="rect">
            <a:avLst/>
          </a:prstGeom>
          <a:noFill/>
          <a:ln/>
        </p:spPr>
        <p:txBody>
          <a:bodyPr wrap="square" lIns="0" tIns="0" rIns="0" bIns="0" rtlCol="0" anchor="t"/>
          <a:lstStyle/>
          <a:p>
            <a:pPr indent="0" marL="0">
              <a:buNone/>
            </a:pPr>
            <a:r>
              <a:rPr lang="en-US" sz="1400" dirty="0">
                <a:solidFill>
                  <a:schemeClr val="bg2"/>
                </a:solidFill>
              </a:rPr>
              <a:t>Next: validation on documented events, land-record boundaries, WhatsApp and SMS access, insurer integration.</a:t>
            </a:r>
            <a:endParaRPr lang="en-US" sz="1400" dirty="0"/>
          </a:p>
        </p:txBody>
      </p:sp>
      <p:sp>
        <p:nvSpPr>
          <p:cNvPr id="6" name="Globe"/>
          <p:cNvSpPr/>
          <p:nvPr/>
        </p:nvSpPr>
        <p:spPr>
          <a:xfrm>
            <a:off x="6400800" y="1097280"/>
            <a:ext cx="2194560" cy="2194560"/>
          </a:xfrm>
          <a:prstGeom prst="ellipse">
            <a:avLst/>
          </a:prstGeom>
          <a:solidFill>
            <a:schemeClr val="accent6"/>
          </a:solidFill>
          <a:ln w="25400">
            <a:solidFill>
              <a:schemeClr val="accent1"/>
            </a:solidFill>
            <a:prstDash val="solid"/>
          </a:ln>
        </p:spPr>
      </p:sp>
      <p:pic>
        <p:nvPicPr>
          <p:cNvPr id="7" name="Globe icon" descr="globe">    </p:cNvPr>
          <p:cNvPicPr>
            <a:picLocks noChangeAspect="1"/>
          </p:cNvPicPr>
          <p:nvPr/>
        </p:nvPicPr>
        <p:blipFill>
          <a:blip r:embed="rId2"/>
          <a:stretch>
            <a:fillRect/>
          </a:stretch>
        </p:blipFill>
        <p:spPr>
          <a:xfrm>
            <a:off x="6949440" y="1645920"/>
            <a:ext cx="1097280" cy="1097280"/>
          </a:xfrm>
          <a:prstGeom prst="rect">
            <a:avLst/>
          </a:prstGeom>
        </p:spPr>
      </p:pic>
    </p:spTree>
  </p:cSld>
  <p:clrMapOvr>
    <a:masterClrMapping/>
  </p:clrMapOvr>
</p:sld>
</file>

<file path=ppt/theme/theme1.xml><?xml version="1.0" encoding="utf-8"?>
<a:theme xmlns:a="http://schemas.openxmlformats.org/drawingml/2006/main" name="FasalProof">
  <a:themeElements>
    <a:clrScheme name="FasalProof">
      <a:dk1>
        <a:srgbClr val="0B1020"/>
      </a:dk1>
      <a:lt1>
        <a:srgbClr val="FFFFFF"/>
      </a:lt1>
      <a:dk2>
        <a:srgbClr val="1B2A4A"/>
      </a:dk2>
      <a:lt2>
        <a:srgbClr val="EAF2FF"/>
      </a:lt2>
      <a:accent1>
        <a:srgbClr val="22D3EE"/>
      </a:accent1>
      <a:accent2>
        <a:srgbClr val="818CF8"/>
      </a:accent2>
      <a:accent3>
        <a:srgbClr val="22C55E"/>
      </a:accent3>
      <a:accent4>
        <a:srgbClr val="F59E0B"/>
      </a:accent4>
      <a:accent5>
        <a:srgbClr val="F472B6"/>
      </a:accent5>
      <a:accent6>
        <a:srgbClr val="0E7490"/>
      </a:accent6>
      <a:hlink>
        <a:srgbClr val="22D3EE"/>
      </a:hlink>
      <a:folHlink>
        <a:srgbClr val="818CF8"/>
      </a:folHlink>
    </a:clrScheme>
    <a:fontScheme name="FasalProof">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FasalProof pitch</dc:title>
  <dc:subject>PptxGenJS Presentation</dc:subject>
  <dc:creator>FasalProof team</dc:creator>
  <cp:lastModifiedBy>FasalProof team</cp:lastModifiedBy>
  <cp:revision>1</cp:revision>
  <dcterms:created xsi:type="dcterms:W3CDTF">2026-10-09T03:45:08Z</dcterms:created>
  <dcterms:modified xsi:type="dcterms:W3CDTF">2026-10-09T03:45:08Z</dcterms:modified>
</cp:coreProperties>
</file>