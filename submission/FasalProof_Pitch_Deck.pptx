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84dc2729-710a-8856-15e3-85852df9485c}">
          <p14:sldIdLst>
            <p14:sldId id="256"/>
          </p14:sldIdLst>
        </p14:section>
        <p14:section name="Problem" id="{5bbb7e60-16da-2557-6293-971bb2e64968}">
          <p14:sldIdLst>
            <p14:sldId id="257"/>
          </p14:sldIdLst>
        </p14:section>
        <p14:section name="Solution" id="{8bcc5858-d145-c235-e5b2-a38d9413e84b}">
          <p14:sldIdLst>
            <p14:sldId id="258"/>
            <p14:sldId id="259"/>
          </p14:sldIdLst>
        </p14:section>
        <p14:section name="Tech" id="{117a804b-da6a-1e9d-9fac-fbfca9f645fc}">
          <p14:sldIdLst>
            <p14:sldId id="260"/>
            <p14:sldId id="261"/>
            <p14:sldId id="262"/>
          </p14:sldIdLst>
        </p14:section>
        <p14:section name="Trust" id="{4df64349-1521-38e7-5de1-dff8b17e9e8d}">
          <p14:sldIdLst>
            <p14:sldId id="263"/>
          </p14:sldIdLst>
        </p14:section>
        <p14:section name="Close" id="{c8a2652d-d4ca-b16d-0a27-ff05ed6afd63}">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in one sentence: after a flood or hailstorm a farmer has photos, and a short deadline. FasalProof turns free satellite images, weather history and the claim rules into evidence and a claim kit. Say up front that it is supporting evidence, not an official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pains: the deadline, the weak evidence, and the confusing rules. Keep this under 30 seconds. The 72-hour figure is the Ministry of Agriculture rule for localised calamities.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goes here: type a sentence to the assistant, run the analysis, then open Overview, Signal, Damage map, Claim and Claim kit. Use a real past event and a clear-sky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the live result. State the documented event and its sources, then the rule: the demo field is the surest cropland (highest pre-flood canopy), not the most dramatic loss. Next slide, if you have run the case study, shows the real numbers and before/after images. If the run was limited by monsoon cloud, say so: that is exactly why the radar check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free and open, so cost per analysis is zero. Emphasise that the statistics are standard and explainable: robust regression for the expected healthy curve, a bootstrap for the interval, change-point detection for the date, k-means for the damage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card. If asked about accuracy: no figure is claimed until validation on documented events is complete; every result shows its confidence interval and the number of scenes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disparage dashboards: they answer a different question. Ours is event-conditioned and plot-level, and the output is something a farmer can submit: a signed report, the right claim route and deadline, and a letter in their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before a judge does. Real spot checks on three arbitrary dates reported 19.3, 14.1 and 13.7 percent apparent loss with intervals spanning zero, so losses below about 25 percent are not read as damage. That is n equals 3: a warning, not a false-positive rate. Quote the case-study controls from EVIDENCE.md as well. The validation script and table template are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one-line summary and invite them to open the site. Mention the roadmap in one breath. Be ready for: accuracy, cloud cover in monsoon, why free data, and what the tool cannot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0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53035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43200"/>
            <a:ext cx="5303520" cy="5486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800600"/>
            <a:ext cx="3657600" cy="228600"/>
          </a:xfrm>
          <a:prstGeom prst="rect">
            <a:avLst/>
          </a:prstGeom>
          <a:noFill/>
          <a:ln/>
        </p:spPr>
        <p:txBody>
          <a:bodyPr wrap="square" lIns="0" tIns="0" rIns="0" bIns="0" rtlCol="0" anchor="ctr"/>
          <a:lstStyle/>
          <a:p>
            <a:pPr indent="0" marL="0">
              <a:buNone/>
            </a:pPr>
            <a:r>
              <a:rPr lang="en-US" sz="1000" dirty="0">
                <a:solidFill>
                  <a:schemeClr val="tx2"/>
                </a:solidFill>
              </a:rPr>
              <a:t>FasalProof · VORTEX 2K26</a:t>
            </a:r>
            <a:endParaRPr lang="en-US" sz="1000" dirty="0"/>
          </a:p>
        </p:txBody>
      </p:sp>
      <p:sp>
        <p:nvSpPr>
          <p:cNvPr id="3" name="Text 1"/>
          <p:cNvSpPr/>
          <p:nvPr>
            <p:ph idx="101" type="title" hasCustomPrompt="1"/>
          </p:nvPr>
        </p:nvSpPr>
        <p:spPr>
          <a:xfrm>
            <a:off x="548640" y="411480"/>
            <a:ext cx="804672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shahaadi2025-bit.github.io/fasalproof/"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5303520" cy="1371600"/>
          </a:xfrm>
          <a:prstGeom prst="rect">
            <a:avLst/>
          </a:prstGeom>
          <a:noFill/>
          <a:ln/>
        </p:spPr>
        <p:txBody>
          <a:bodyPr wrap="square" lIns="0" tIns="0" rIns="0" bIns="0" rtlCol="0" anchor="t"/>
          <a:lstStyle/>
          <a:p>
            <a:pPr algn="l" indent="0" marL="0">
              <a:buNone/>
            </a:pPr>
            <a:r>
              <a:rPr lang="en-US" sz="4000" b="1" dirty="0">
                <a:solidFill>
                  <a:schemeClr val="bg1"/>
                </a:solidFill>
              </a:rPr>
              <a:t>FasalProof</a:t>
            </a:r>
            <a:endParaRPr lang="en-US" sz="4000" dirty="0"/>
          </a:p>
        </p:txBody>
      </p:sp>
      <p:sp>
        <p:nvSpPr>
          <p:cNvPr id="3" name="Text 0"/>
          <p:cNvSpPr/>
          <p:nvPr>
            <p:ph idx="101" type="body" hasCustomPrompt="1"/>
          </p:nvPr>
        </p:nvSpPr>
        <p:spPr>
          <a:xfrm>
            <a:off x="548640" y="2743200"/>
            <a:ext cx="5303520" cy="548640"/>
          </a:xfrm>
          <a:prstGeom prst="rect">
            <a:avLst/>
          </a:prstGeom>
          <a:noFill/>
          <a:ln/>
        </p:spPr>
        <p:txBody>
          <a:bodyPr wrap="square" lIns="0" tIns="0" rIns="0" bIns="0" rtlCol="0"/>
          <a:lstStyle/>
          <a:p>
            <a:pPr algn="l" indent="0" marL="0">
              <a:buNone/>
            </a:pPr>
            <a:r>
              <a:rPr lang="en-US" sz="1800" dirty="0">
                <a:solidFill>
                  <a:schemeClr val="bg2"/>
                </a:solidFill>
              </a:rPr>
              <a:t>Prove your crop loss from space.</a:t>
            </a:r>
            <a:endParaRPr lang="en-US" sz="1800" dirty="0"/>
          </a:p>
        </p:txBody>
      </p:sp>
      <p:sp>
        <p:nvSpPr>
          <p:cNvPr id="4" name="Text 2"/>
          <p:cNvSpPr txBox="1"/>
          <p:nvPr/>
        </p:nvSpPr>
        <p:spPr>
          <a:xfrm>
            <a:off x="548640" y="3383280"/>
            <a:ext cx="5120640" cy="731520"/>
          </a:xfrm>
          <a:prstGeom prst="rect">
            <a:avLst/>
          </a:prstGeom>
          <a:noFill/>
          <a:ln/>
        </p:spPr>
        <p:txBody>
          <a:bodyPr wrap="square" lIns="0" tIns="0" rIns="0" bIns="0" rtlCol="0" anchor="ctr"/>
          <a:lstStyle/>
          <a:p>
            <a:pPr indent="0" marL="0">
              <a:buNone/>
            </a:pPr>
            <a:r>
              <a:rPr lang="en-US" sz="1400" dirty="0">
                <a:solidFill>
                  <a:schemeClr val="accent1"/>
                </a:solidFill>
              </a:rPr>
              <a:t>Free satellite and weather evidence for crop-insurance claims, anywhere on land.</a:t>
            </a:r>
            <a:endParaRPr lang="en-US" sz="1400" dirty="0"/>
          </a:p>
        </p:txBody>
      </p:sp>
      <p:sp>
        <p:nvSpPr>
          <p:cNvPr id="5" name="Text 3"/>
          <p:cNvSpPr txBox="1"/>
          <p:nvPr/>
        </p:nvSpPr>
        <p:spPr>
          <a:xfrm>
            <a:off x="548640" y="4572000"/>
            <a:ext cx="5486400" cy="274320"/>
          </a:xfrm>
          <a:prstGeom prst="rect">
            <a:avLst/>
          </a:prstGeom>
          <a:noFill/>
          <a:ln/>
        </p:spPr>
        <p:txBody>
          <a:bodyPr wrap="square" lIns="0" tIns="0" rIns="0" bIns="0" rtlCol="0" anchor="ctr"/>
          <a:lstStyle/>
          <a:p>
            <a:pPr indent="0" marL="0">
              <a:buNone/>
            </a:pPr>
            <a:r>
              <a:rPr lang="en-US" sz="1100" dirty="0">
                <a:solidFill>
                  <a:schemeClr val="bg2"/>
                </a:solidFill>
              </a:rPr>
              <a:t>VORTEX 2K26 · Climate, Agriculture &amp; Rural Innovation</a:t>
            </a:r>
            <a:endParaRPr lang="en-US" sz="1100" dirty="0"/>
          </a:p>
        </p:txBody>
      </p:sp>
      <p:sp>
        <p:nvSpPr>
          <p:cNvPr id="6" name="Earth"/>
          <p:cNvSpPr/>
          <p:nvPr/>
        </p:nvSpPr>
        <p:spPr>
          <a:xfrm>
            <a:off x="5577840" y="868680"/>
            <a:ext cx="2743200" cy="2743200"/>
          </a:xfrm>
          <a:prstGeom prst="ellipse">
            <a:avLst/>
          </a:prstGeom>
          <a:solidFill>
            <a:schemeClr val="accent6"/>
          </a:solidFill>
          <a:ln w="25400">
            <a:solidFill>
              <a:schemeClr val="accent1"/>
            </a:solidFill>
            <a:prstDash val="solid"/>
          </a:ln>
        </p:spPr>
      </p:sp>
      <p:sp>
        <p:nvSpPr>
          <p:cNvPr id="7" name="Orbit"/>
          <p:cNvSpPr/>
          <p:nvPr/>
        </p:nvSpPr>
        <p:spPr>
          <a:xfrm>
            <a:off x="5120640" y="411480"/>
            <a:ext cx="3657600" cy="3657600"/>
          </a:xfrm>
          <a:prstGeom prst="ellipse">
            <a:avLst/>
          </a:prstGeom>
          <a:solidFill>
            <a:schemeClr val="tx1">
              <a:alpha val="0"/>
            </a:schemeClr>
          </a:solidFill>
          <a:ln w="19050">
            <a:solidFill>
              <a:schemeClr val="accent2"/>
            </a:solidFill>
            <a:prstDash val="dash"/>
          </a:ln>
        </p:spPr>
      </p:sp>
      <p:sp>
        <p:nvSpPr>
          <p:cNvPr id="8" name="Satellite"/>
          <p:cNvSpPr/>
          <p:nvPr/>
        </p:nvSpPr>
        <p:spPr>
          <a:xfrm>
            <a:off x="8156448" y="868680"/>
            <a:ext cx="384048" cy="384048"/>
          </a:xfrm>
          <a:prstGeom prst="ellipse">
            <a:avLst/>
          </a:prstGeom>
          <a:solidFill>
            <a:schemeClr val="bg1"/>
          </a:solidFill>
          <a:ln w="25400">
            <a:solidFill>
              <a:schemeClr val="accent1"/>
            </a:solidFill>
            <a:prstDash val="solid"/>
          </a:ln>
        </p:spPr>
      </p:sp>
      <p:pic>
        <p:nvPicPr>
          <p:cNvPr id="9" name="Seedling" descr="seedling">    </p:cNvPr>
          <p:cNvPicPr>
            <a:picLocks noChangeAspect="1"/>
          </p:cNvPicPr>
          <p:nvPr/>
        </p:nvPicPr>
        <p:blipFill>
          <a:blip r:embed="rId1"/>
          <a:stretch>
            <a:fillRect/>
          </a:stretch>
        </p:blipFill>
        <p:spPr>
          <a:xfrm>
            <a:off x="6537960" y="182880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046720" cy="731520"/>
          </a:xfrm>
          <a:prstGeom prst="rect">
            <a:avLst/>
          </a:prstGeom>
          <a:noFill/>
          <a:ln/>
        </p:spPr>
        <p:txBody>
          <a:bodyPr wrap="square" lIns="0" tIns="0" rIns="0" bIns="0" rtlCol="0" anchor="t"/>
          <a:lstStyle/>
          <a:p>
            <a:pPr algn="l" indent="0" marL="0">
              <a:buNone/>
            </a:pPr>
            <a:r>
              <a:rPr lang="en-US" sz="3600" b="1" dirty="0">
                <a:solidFill>
                  <a:schemeClr val="tx1"/>
                </a:solidFill>
              </a:rPr>
              <a:t>A short clock and weak evidence</a:t>
            </a:r>
            <a:endParaRPr lang="en-US" sz="3600" dirty="0"/>
          </a:p>
        </p:txBody>
      </p:sp>
      <p:sp>
        <p:nvSpPr>
          <p:cNvPr id="3" name="Card 1"/>
          <p:cNvSpPr/>
          <p:nvPr/>
        </p:nvSpPr>
        <p:spPr>
          <a:xfrm>
            <a:off x="548640" y="1554480"/>
            <a:ext cx="2560320" cy="2743200"/>
          </a:xfrm>
          <a:prstGeom prst="roundRect">
            <a:avLst>
              <a:gd name="adj" fmla="val 4286"/>
            </a:avLst>
          </a:prstGeom>
          <a:solidFill>
            <a:schemeClr val="bg2"/>
          </a:solidFill>
          <a:ln w="12700">
            <a:solidFill>
              <a:schemeClr val="bg2"/>
            </a:solidFill>
            <a:prstDash val="solid"/>
          </a:ln>
        </p:spPr>
      </p:sp>
      <p:sp>
        <p:nvSpPr>
          <p:cNvPr id="4" name="72 hours badge"/>
          <p:cNvSpPr/>
          <p:nvPr/>
        </p:nvSpPr>
        <p:spPr>
          <a:xfrm>
            <a:off x="777240" y="1783080"/>
            <a:ext cx="640080" cy="640080"/>
          </a:xfrm>
          <a:prstGeom prst="ellipse">
            <a:avLst/>
          </a:prstGeom>
          <a:solidFill>
            <a:schemeClr val="tx1"/>
          </a:solidFill>
          <a:ln w="12700">
            <a:solidFill>
              <a:schemeClr val="tx1"/>
            </a:solidFill>
            <a:prstDash val="solid"/>
          </a:ln>
        </p:spPr>
      </p:sp>
      <p:pic>
        <p:nvPicPr>
          <p:cNvPr id="5" name="72 hours icon" descr="72 hours">    </p:cNvPr>
          <p:cNvPicPr>
            <a:picLocks noChangeAspect="1"/>
          </p:cNvPicPr>
          <p:nvPr/>
        </p:nvPicPr>
        <p:blipFill>
          <a:blip r:embed="rId1"/>
          <a:stretch>
            <a:fillRect/>
          </a:stretch>
        </p:blipFill>
        <p:spPr>
          <a:xfrm>
            <a:off x="937260" y="1943100"/>
            <a:ext cx="320040" cy="320040"/>
          </a:xfrm>
          <a:prstGeom prst="rect">
            <a:avLst/>
          </a:prstGeom>
        </p:spPr>
      </p:pic>
      <p:sp>
        <p:nvSpPr>
          <p:cNvPr id="6" name="Text 3"/>
          <p:cNvSpPr txBox="1"/>
          <p:nvPr/>
        </p:nvSpPr>
        <p:spPr>
          <a:xfrm>
            <a:off x="777240" y="2606040"/>
            <a:ext cx="2103120" cy="640080"/>
          </a:xfrm>
          <a:prstGeom prst="rect">
            <a:avLst/>
          </a:prstGeom>
          <a:noFill/>
          <a:ln/>
        </p:spPr>
        <p:txBody>
          <a:bodyPr wrap="square" lIns="0" tIns="0" rIns="0" bIns="0" rtlCol="0" anchor="t"/>
          <a:lstStyle/>
          <a:p>
            <a:pPr indent="0" marL="0">
              <a:buNone/>
            </a:pPr>
            <a:r>
              <a:rPr lang="en-US" sz="1800" b="1" dirty="0">
                <a:solidFill>
                  <a:schemeClr val="tx1"/>
                </a:solidFill>
              </a:rPr>
              <a:t>72 hours</a:t>
            </a:r>
            <a:endParaRPr lang="en-US" sz="1800" dirty="0"/>
          </a:p>
        </p:txBody>
      </p:sp>
      <p:sp>
        <p:nvSpPr>
          <p:cNvPr id="7" name="Text 4"/>
          <p:cNvSpPr txBox="1"/>
          <p:nvPr/>
        </p:nvSpPr>
        <p:spPr>
          <a:xfrm>
            <a:off x="777240" y="3291840"/>
            <a:ext cx="2103120" cy="960120"/>
          </a:xfrm>
          <a:prstGeom prst="rect">
            <a:avLst/>
          </a:prstGeom>
          <a:noFill/>
          <a:ln/>
        </p:spPr>
        <p:txBody>
          <a:bodyPr wrap="square" lIns="0" tIns="0" rIns="0" bIns="0" rtlCol="0" anchor="t"/>
          <a:lstStyle/>
          <a:p>
            <a:pPr indent="0" marL="0">
              <a:buNone/>
            </a:pPr>
            <a:r>
              <a:rPr lang="en-US" sz="1300" dirty="0">
                <a:solidFill>
                  <a:schemeClr val="tx2"/>
                </a:solidFill>
              </a:rPr>
              <a:t>Localised losses such as hail or inundation must be reported within 72 hours under PMFBY.</a:t>
            </a:r>
            <a:endParaRPr lang="en-US" sz="1300" dirty="0"/>
          </a:p>
        </p:txBody>
      </p:sp>
      <p:sp>
        <p:nvSpPr>
          <p:cNvPr id="8" name="Card 2"/>
          <p:cNvSpPr/>
          <p:nvPr/>
        </p:nvSpPr>
        <p:spPr>
          <a:xfrm>
            <a:off x="3291840" y="1554480"/>
            <a:ext cx="2560320" cy="2743200"/>
          </a:xfrm>
          <a:prstGeom prst="roundRect">
            <a:avLst>
              <a:gd name="adj" fmla="val 4286"/>
            </a:avLst>
          </a:prstGeom>
          <a:solidFill>
            <a:schemeClr val="bg2"/>
          </a:solidFill>
          <a:ln w="12700">
            <a:solidFill>
              <a:schemeClr val="bg2"/>
            </a:solidFill>
            <a:prstDash val="solid"/>
          </a:ln>
        </p:spPr>
      </p:sp>
      <p:sp>
        <p:nvSpPr>
          <p:cNvPr id="9" name="Photos are hard to verify badge"/>
          <p:cNvSpPr/>
          <p:nvPr/>
        </p:nvSpPr>
        <p:spPr>
          <a:xfrm>
            <a:off x="3520440" y="1783080"/>
            <a:ext cx="640080" cy="640080"/>
          </a:xfrm>
          <a:prstGeom prst="ellipse">
            <a:avLst/>
          </a:prstGeom>
          <a:solidFill>
            <a:schemeClr val="tx1"/>
          </a:solidFill>
          <a:ln w="12700">
            <a:solidFill>
              <a:schemeClr val="tx1"/>
            </a:solidFill>
            <a:prstDash val="solid"/>
          </a:ln>
        </p:spPr>
      </p:sp>
      <p:pic>
        <p:nvPicPr>
          <p:cNvPr id="10" name="Photos are hard to verify icon" descr="Photos are hard to verify">    </p:cNvPr>
          <p:cNvPicPr>
            <a:picLocks noChangeAspect="1"/>
          </p:cNvPicPr>
          <p:nvPr/>
        </p:nvPicPr>
        <p:blipFill>
          <a:blip r:embed="rId2"/>
          <a:stretch>
            <a:fillRect/>
          </a:stretch>
        </p:blipFill>
        <p:spPr>
          <a:xfrm>
            <a:off x="3680460" y="1943100"/>
            <a:ext cx="320040" cy="320040"/>
          </a:xfrm>
          <a:prstGeom prst="rect">
            <a:avLst/>
          </a:prstGeom>
        </p:spPr>
      </p:pic>
      <p:sp>
        <p:nvSpPr>
          <p:cNvPr id="11" name="Text 7"/>
          <p:cNvSpPr txBox="1"/>
          <p:nvPr/>
        </p:nvSpPr>
        <p:spPr>
          <a:xfrm>
            <a:off x="3520440" y="2606040"/>
            <a:ext cx="2103120" cy="640080"/>
          </a:xfrm>
          <a:prstGeom prst="rect">
            <a:avLst/>
          </a:prstGeom>
          <a:noFill/>
          <a:ln/>
        </p:spPr>
        <p:txBody>
          <a:bodyPr wrap="square" lIns="0" tIns="0" rIns="0" bIns="0" rtlCol="0" anchor="t"/>
          <a:lstStyle/>
          <a:p>
            <a:pPr indent="0" marL="0">
              <a:buNone/>
            </a:pPr>
            <a:r>
              <a:rPr lang="en-US" sz="1800" b="1" dirty="0">
                <a:solidFill>
                  <a:schemeClr val="tx1"/>
                </a:solidFill>
              </a:rPr>
              <a:t>Photos are hard to verify</a:t>
            </a:r>
            <a:endParaRPr lang="en-US" sz="1800" dirty="0"/>
          </a:p>
        </p:txBody>
      </p:sp>
      <p:sp>
        <p:nvSpPr>
          <p:cNvPr id="12" name="Text 8"/>
          <p:cNvSpPr txBox="1"/>
          <p:nvPr/>
        </p:nvSpPr>
        <p:spPr>
          <a:xfrm>
            <a:off x="3520440" y="3291840"/>
            <a:ext cx="2103120" cy="960120"/>
          </a:xfrm>
          <a:prstGeom prst="rect">
            <a:avLst/>
          </a:prstGeom>
          <a:noFill/>
          <a:ln/>
        </p:spPr>
        <p:txBody>
          <a:bodyPr wrap="square" lIns="0" tIns="0" rIns="0" bIns="0" rtlCol="0" anchor="t"/>
          <a:lstStyle/>
          <a:p>
            <a:pPr indent="0" marL="0">
              <a:buNone/>
            </a:pPr>
            <a:r>
              <a:rPr lang="en-US" sz="1300" dirty="0">
                <a:solidFill>
                  <a:schemeClr val="tx2"/>
                </a:solidFill>
              </a:rPr>
              <a:t>A dated, location-stamped satellite comparison is objective and repeatable.</a:t>
            </a:r>
            <a:endParaRPr lang="en-US" sz="1300" dirty="0"/>
          </a:p>
        </p:txBody>
      </p:sp>
      <p:sp>
        <p:nvSpPr>
          <p:cNvPr id="13" name="Card 3"/>
          <p:cNvSpPr/>
          <p:nvPr/>
        </p:nvSpPr>
        <p:spPr>
          <a:xfrm>
            <a:off x="6035040" y="1554480"/>
            <a:ext cx="2560320" cy="2743200"/>
          </a:xfrm>
          <a:prstGeom prst="roundRect">
            <a:avLst>
              <a:gd name="adj" fmla="val 4286"/>
            </a:avLst>
          </a:prstGeom>
          <a:solidFill>
            <a:schemeClr val="bg2"/>
          </a:solidFill>
          <a:ln w="12700">
            <a:solidFill>
              <a:schemeClr val="bg2"/>
            </a:solidFill>
            <a:prstDash val="solid"/>
          </a:ln>
        </p:spPr>
      </p:sp>
      <p:sp>
        <p:nvSpPr>
          <p:cNvPr id="14" name="The route differs by peril badge"/>
          <p:cNvSpPr/>
          <p:nvPr/>
        </p:nvSpPr>
        <p:spPr>
          <a:xfrm>
            <a:off x="6263640" y="1783080"/>
            <a:ext cx="640080" cy="640080"/>
          </a:xfrm>
          <a:prstGeom prst="ellipse">
            <a:avLst/>
          </a:prstGeom>
          <a:solidFill>
            <a:schemeClr val="tx1"/>
          </a:solidFill>
          <a:ln w="12700">
            <a:solidFill>
              <a:schemeClr val="tx1"/>
            </a:solidFill>
            <a:prstDash val="solid"/>
          </a:ln>
        </p:spPr>
      </p:sp>
      <p:pic>
        <p:nvPicPr>
          <p:cNvPr id="15" name="The route differs by peril icon" descr="The route differs by peril">    </p:cNvPr>
          <p:cNvPicPr>
            <a:picLocks noChangeAspect="1"/>
          </p:cNvPicPr>
          <p:nvPr/>
        </p:nvPicPr>
        <p:blipFill>
          <a:blip r:embed="rId3"/>
          <a:stretch>
            <a:fillRect/>
          </a:stretch>
        </p:blipFill>
        <p:spPr>
          <a:xfrm>
            <a:off x="6423660" y="1943100"/>
            <a:ext cx="320040" cy="320040"/>
          </a:xfrm>
          <a:prstGeom prst="rect">
            <a:avLst/>
          </a:prstGeom>
        </p:spPr>
      </p:pic>
      <p:sp>
        <p:nvSpPr>
          <p:cNvPr id="16" name="Text 11"/>
          <p:cNvSpPr txBox="1"/>
          <p:nvPr/>
        </p:nvSpPr>
        <p:spPr>
          <a:xfrm>
            <a:off x="6263640" y="2606040"/>
            <a:ext cx="2103120" cy="640080"/>
          </a:xfrm>
          <a:prstGeom prst="rect">
            <a:avLst/>
          </a:prstGeom>
          <a:noFill/>
          <a:ln/>
        </p:spPr>
        <p:txBody>
          <a:bodyPr wrap="square" lIns="0" tIns="0" rIns="0" bIns="0" rtlCol="0" anchor="t"/>
          <a:lstStyle/>
          <a:p>
            <a:pPr indent="0" marL="0">
              <a:buNone/>
            </a:pPr>
            <a:r>
              <a:rPr lang="en-US" sz="1800" b="1" dirty="0">
                <a:solidFill>
                  <a:schemeClr val="tx1"/>
                </a:solidFill>
              </a:rPr>
              <a:t>The route differs by peril</a:t>
            </a:r>
            <a:endParaRPr lang="en-US" sz="1800" dirty="0"/>
          </a:p>
        </p:txBody>
      </p:sp>
      <p:sp>
        <p:nvSpPr>
          <p:cNvPr id="17" name="Text 12"/>
          <p:cNvSpPr txBox="1"/>
          <p:nvPr/>
        </p:nvSpPr>
        <p:spPr>
          <a:xfrm>
            <a:off x="6263640" y="3291840"/>
            <a:ext cx="2103120" cy="960120"/>
          </a:xfrm>
          <a:prstGeom prst="rect">
            <a:avLst/>
          </a:prstGeom>
          <a:noFill/>
          <a:ln/>
        </p:spPr>
        <p:txBody>
          <a:bodyPr wrap="square" lIns="0" tIns="0" rIns="0" bIns="0" rtlCol="0" anchor="t"/>
          <a:lstStyle/>
          <a:p>
            <a:pPr indent="0" marL="0">
              <a:buNone/>
            </a:pPr>
            <a:r>
              <a:rPr lang="en-US" sz="1300" dirty="0">
                <a:solidFill>
                  <a:schemeClr val="tx2"/>
                </a:solidFill>
              </a:rPr>
              <a:t>Individual claim or area-yield? Knowing which applies saves days.</a:t>
            </a:r>
            <a:endParaRPr lang="en-US" sz="13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046720" cy="731520"/>
          </a:xfrm>
          <a:prstGeom prst="rect">
            <a:avLst/>
          </a:prstGeom>
          <a:noFill/>
          <a:ln/>
        </p:spPr>
        <p:txBody>
          <a:bodyPr wrap="square" lIns="0" tIns="0" rIns="0" bIns="0" rtlCol="0" anchor="t"/>
          <a:lstStyle/>
          <a:p>
            <a:pPr algn="l" indent="0" marL="0">
              <a:buNone/>
            </a:pPr>
            <a:r>
              <a:rPr lang="en-US" sz="3600" b="1" dirty="0">
                <a:solidFill>
                  <a:schemeClr val="tx1"/>
                </a:solidFill>
              </a:rPr>
              <a:t>From a sentence to a claim kit</a:t>
            </a:r>
            <a:endParaRPr lang="en-US" sz="3600" dirty="0"/>
          </a:p>
        </p:txBody>
      </p:sp>
      <p:sp>
        <p:nvSpPr>
          <p:cNvPr id="3" name="Step 1"/>
          <p:cNvSpPr/>
          <p:nvPr/>
        </p:nvSpPr>
        <p:spPr>
          <a:xfrm>
            <a:off x="548640" y="1600200"/>
            <a:ext cx="731520" cy="731520"/>
          </a:xfrm>
          <a:prstGeom prst="ellipse">
            <a:avLst/>
          </a:prstGeom>
          <a:solidFill>
            <a:schemeClr val="accent1"/>
          </a:solidFill>
          <a:ln w="12700">
            <a:solidFill>
              <a:schemeClr val="bg1"/>
            </a:solidFill>
            <a:prstDash val="solid"/>
          </a:ln>
        </p:spPr>
      </p:sp>
      <p:sp>
        <p:nvSpPr>
          <p:cNvPr id="4" name="Text 2"/>
          <p:cNvSpPr txBox="1"/>
          <p:nvPr/>
        </p:nvSpPr>
        <p:spPr>
          <a:xfrm>
            <a:off x="548640" y="1600200"/>
            <a:ext cx="731520" cy="731520"/>
          </a:xfrm>
          <a:prstGeom prst="rect">
            <a:avLst/>
          </a:prstGeom>
          <a:noFill/>
          <a:ln/>
        </p:spPr>
        <p:txBody>
          <a:bodyPr wrap="square" lIns="0" tIns="0" rIns="0" bIns="0" rtlCol="0" anchor="ctr"/>
          <a:lstStyle/>
          <a:p>
            <a:pPr algn="ctr" indent="0" marL="0">
              <a:buNone/>
            </a:pPr>
            <a:r>
              <a:rPr lang="en-US" sz="2600" b="1" dirty="0">
                <a:solidFill>
                  <a:schemeClr val="tx1"/>
                </a:solidFill>
              </a:rPr>
              <a:t>1</a:t>
            </a:r>
            <a:endParaRPr lang="en-US" sz="2600" dirty="0"/>
          </a:p>
        </p:txBody>
      </p:sp>
      <p:sp>
        <p:nvSpPr>
          <p:cNvPr id="5" name="Arrow 1"/>
          <p:cNvSpPr/>
          <p:nvPr/>
        </p:nvSpPr>
        <p:spPr>
          <a:xfrm>
            <a:off x="1417320" y="1828800"/>
            <a:ext cx="777240" cy="274320"/>
          </a:xfrm>
          <a:prstGeom prst="rightArrow">
            <a:avLst/>
          </a:prstGeom>
          <a:solidFill>
            <a:schemeClr val="accent2"/>
          </a:solidFill>
          <a:ln w="12700">
            <a:solidFill>
              <a:schemeClr val="accent2"/>
            </a:solidFill>
            <a:prstDash val="solid"/>
          </a:ln>
        </p:spPr>
      </p:sp>
      <p:sp>
        <p:nvSpPr>
          <p:cNvPr id="6" name="Text 4"/>
          <p:cNvSpPr txBox="1"/>
          <p:nvPr/>
        </p:nvSpPr>
        <p:spPr>
          <a:xfrm>
            <a:off x="548640" y="2560320"/>
            <a:ext cx="1828800" cy="365760"/>
          </a:xfrm>
          <a:prstGeom prst="rect">
            <a:avLst/>
          </a:prstGeom>
          <a:noFill/>
          <a:ln/>
        </p:spPr>
        <p:txBody>
          <a:bodyPr wrap="square" lIns="0" tIns="0" rIns="0" bIns="0" rtlCol="0" anchor="ctr"/>
          <a:lstStyle/>
          <a:p>
            <a:pPr indent="0" marL="0">
              <a:buNone/>
            </a:pPr>
            <a:r>
              <a:rPr lang="en-US" sz="2000" b="1" dirty="0">
                <a:solidFill>
                  <a:schemeClr val="tx1"/>
                </a:solidFill>
              </a:rPr>
              <a:t>Describe</a:t>
            </a:r>
            <a:endParaRPr lang="en-US" sz="2000" dirty="0"/>
          </a:p>
        </p:txBody>
      </p:sp>
      <p:sp>
        <p:nvSpPr>
          <p:cNvPr id="7" name="Text 5"/>
          <p:cNvSpPr txBox="1"/>
          <p:nvPr/>
        </p:nvSpPr>
        <p:spPr>
          <a:xfrm>
            <a:off x="548640" y="2971800"/>
            <a:ext cx="1828800" cy="1280160"/>
          </a:xfrm>
          <a:prstGeom prst="rect">
            <a:avLst/>
          </a:prstGeom>
          <a:noFill/>
          <a:ln/>
        </p:spPr>
        <p:txBody>
          <a:bodyPr wrap="square" lIns="0" tIns="0" rIns="0" bIns="0" rtlCol="0" anchor="t"/>
          <a:lstStyle/>
          <a:p>
            <a:pPr indent="0" marL="0">
              <a:buNone/>
            </a:pPr>
            <a:r>
              <a:rPr lang="en-US" sz="1400" dirty="0">
                <a:solidFill>
                  <a:schemeClr val="tx2"/>
                </a:solidFill>
              </a:rPr>
              <a:t>Type it in six languages, or tap the field on a satellite map.</a:t>
            </a:r>
            <a:endParaRPr lang="en-US" sz="1400" dirty="0"/>
          </a:p>
        </p:txBody>
      </p:sp>
      <p:sp>
        <p:nvSpPr>
          <p:cNvPr id="8" name="Step 2"/>
          <p:cNvSpPr/>
          <p:nvPr/>
        </p:nvSpPr>
        <p:spPr>
          <a:xfrm>
            <a:off x="2606040" y="1600200"/>
            <a:ext cx="731520" cy="731520"/>
          </a:xfrm>
          <a:prstGeom prst="ellipse">
            <a:avLst/>
          </a:prstGeom>
          <a:solidFill>
            <a:schemeClr val="accent1"/>
          </a:solidFill>
          <a:ln w="12700">
            <a:solidFill>
              <a:schemeClr val="bg1"/>
            </a:solidFill>
            <a:prstDash val="solid"/>
          </a:ln>
        </p:spPr>
      </p:sp>
      <p:sp>
        <p:nvSpPr>
          <p:cNvPr id="9" name="Text 7"/>
          <p:cNvSpPr txBox="1"/>
          <p:nvPr/>
        </p:nvSpPr>
        <p:spPr>
          <a:xfrm>
            <a:off x="2606040" y="1600200"/>
            <a:ext cx="731520" cy="731520"/>
          </a:xfrm>
          <a:prstGeom prst="rect">
            <a:avLst/>
          </a:prstGeom>
          <a:noFill/>
          <a:ln/>
        </p:spPr>
        <p:txBody>
          <a:bodyPr wrap="square" lIns="0" tIns="0" rIns="0" bIns="0" rtlCol="0" anchor="ctr"/>
          <a:lstStyle/>
          <a:p>
            <a:pPr algn="ctr" indent="0" marL="0">
              <a:buNone/>
            </a:pPr>
            <a:r>
              <a:rPr lang="en-US" sz="2600" b="1" dirty="0">
                <a:solidFill>
                  <a:schemeClr val="tx1"/>
                </a:solidFill>
              </a:rPr>
              <a:t>2</a:t>
            </a:r>
            <a:endParaRPr lang="en-US" sz="2600" dirty="0"/>
          </a:p>
        </p:txBody>
      </p:sp>
      <p:sp>
        <p:nvSpPr>
          <p:cNvPr id="10" name="Arrow 2"/>
          <p:cNvSpPr/>
          <p:nvPr/>
        </p:nvSpPr>
        <p:spPr>
          <a:xfrm>
            <a:off x="3474720" y="1828800"/>
            <a:ext cx="777240" cy="274320"/>
          </a:xfrm>
          <a:prstGeom prst="rightArrow">
            <a:avLst/>
          </a:prstGeom>
          <a:solidFill>
            <a:schemeClr val="accent2"/>
          </a:solidFill>
          <a:ln w="12700">
            <a:solidFill>
              <a:schemeClr val="accent2"/>
            </a:solidFill>
            <a:prstDash val="solid"/>
          </a:ln>
        </p:spPr>
      </p:sp>
      <p:sp>
        <p:nvSpPr>
          <p:cNvPr id="11" name="Text 9"/>
          <p:cNvSpPr txBox="1"/>
          <p:nvPr/>
        </p:nvSpPr>
        <p:spPr>
          <a:xfrm>
            <a:off x="2606040" y="2560320"/>
            <a:ext cx="1828800" cy="365760"/>
          </a:xfrm>
          <a:prstGeom prst="rect">
            <a:avLst/>
          </a:prstGeom>
          <a:noFill/>
          <a:ln/>
        </p:spPr>
        <p:txBody>
          <a:bodyPr wrap="square" lIns="0" tIns="0" rIns="0" bIns="0" rtlCol="0" anchor="ctr"/>
          <a:lstStyle/>
          <a:p>
            <a:pPr indent="0" marL="0">
              <a:buNone/>
            </a:pPr>
            <a:r>
              <a:rPr lang="en-US" sz="2000" b="1" dirty="0">
                <a:solidFill>
                  <a:schemeClr val="tx1"/>
                </a:solidFill>
              </a:rPr>
              <a:t>Compare</a:t>
            </a:r>
            <a:endParaRPr lang="en-US" sz="2000" dirty="0"/>
          </a:p>
        </p:txBody>
      </p:sp>
      <p:sp>
        <p:nvSpPr>
          <p:cNvPr id="12" name="Text 10"/>
          <p:cNvSpPr txBox="1"/>
          <p:nvPr/>
        </p:nvSpPr>
        <p:spPr>
          <a:xfrm>
            <a:off x="2606040" y="2971800"/>
            <a:ext cx="1828800" cy="1280160"/>
          </a:xfrm>
          <a:prstGeom prst="rect">
            <a:avLst/>
          </a:prstGeom>
          <a:noFill/>
          <a:ln/>
        </p:spPr>
        <p:txBody>
          <a:bodyPr wrap="square" lIns="0" tIns="0" rIns="0" bIns="0" rtlCol="0" anchor="t"/>
          <a:lstStyle/>
          <a:p>
            <a:pPr indent="0" marL="0">
              <a:buNone/>
            </a:pPr>
            <a:r>
              <a:rPr lang="en-US" sz="1400" dirty="0">
                <a:solidFill>
                  <a:schemeClr val="tx2"/>
                </a:solidFill>
              </a:rPr>
              <a:t>Sentinel-2 images before and after, cloud-masked pixel by pixel.</a:t>
            </a:r>
            <a:endParaRPr lang="en-US" sz="1400" dirty="0"/>
          </a:p>
        </p:txBody>
      </p:sp>
      <p:sp>
        <p:nvSpPr>
          <p:cNvPr id="13" name="Step 3"/>
          <p:cNvSpPr/>
          <p:nvPr/>
        </p:nvSpPr>
        <p:spPr>
          <a:xfrm>
            <a:off x="4663440" y="1600200"/>
            <a:ext cx="731520" cy="731520"/>
          </a:xfrm>
          <a:prstGeom prst="ellipse">
            <a:avLst/>
          </a:prstGeom>
          <a:solidFill>
            <a:schemeClr val="accent1"/>
          </a:solidFill>
          <a:ln w="12700">
            <a:solidFill>
              <a:schemeClr val="bg1"/>
            </a:solidFill>
            <a:prstDash val="solid"/>
          </a:ln>
        </p:spPr>
      </p:sp>
      <p:sp>
        <p:nvSpPr>
          <p:cNvPr id="14" name="Text 12"/>
          <p:cNvSpPr txBox="1"/>
          <p:nvPr/>
        </p:nvSpPr>
        <p:spPr>
          <a:xfrm>
            <a:off x="4663440" y="1600200"/>
            <a:ext cx="731520" cy="731520"/>
          </a:xfrm>
          <a:prstGeom prst="rect">
            <a:avLst/>
          </a:prstGeom>
          <a:noFill/>
          <a:ln/>
        </p:spPr>
        <p:txBody>
          <a:bodyPr wrap="square" lIns="0" tIns="0" rIns="0" bIns="0" rtlCol="0" anchor="ctr"/>
          <a:lstStyle/>
          <a:p>
            <a:pPr algn="ctr" indent="0" marL="0">
              <a:buNone/>
            </a:pPr>
            <a:r>
              <a:rPr lang="en-US" sz="2600" b="1" dirty="0">
                <a:solidFill>
                  <a:schemeClr val="tx1"/>
                </a:solidFill>
              </a:rPr>
              <a:t>3</a:t>
            </a:r>
            <a:endParaRPr lang="en-US" sz="2600" dirty="0"/>
          </a:p>
        </p:txBody>
      </p:sp>
      <p:sp>
        <p:nvSpPr>
          <p:cNvPr id="15" name="Arrow 3"/>
          <p:cNvSpPr/>
          <p:nvPr/>
        </p:nvSpPr>
        <p:spPr>
          <a:xfrm>
            <a:off x="5532120" y="1828800"/>
            <a:ext cx="777240" cy="274320"/>
          </a:xfrm>
          <a:prstGeom prst="rightArrow">
            <a:avLst/>
          </a:prstGeom>
          <a:solidFill>
            <a:schemeClr val="accent2"/>
          </a:solidFill>
          <a:ln w="12700">
            <a:solidFill>
              <a:schemeClr val="accent2"/>
            </a:solidFill>
            <a:prstDash val="solid"/>
          </a:ln>
        </p:spPr>
      </p:sp>
      <p:sp>
        <p:nvSpPr>
          <p:cNvPr id="16" name="Text 14"/>
          <p:cNvSpPr txBox="1"/>
          <p:nvPr/>
        </p:nvSpPr>
        <p:spPr>
          <a:xfrm>
            <a:off x="4663440" y="2560320"/>
            <a:ext cx="1828800" cy="365760"/>
          </a:xfrm>
          <a:prstGeom prst="rect">
            <a:avLst/>
          </a:prstGeom>
          <a:noFill/>
          <a:ln/>
        </p:spPr>
        <p:txBody>
          <a:bodyPr wrap="square" lIns="0" tIns="0" rIns="0" bIns="0" rtlCol="0" anchor="ctr"/>
          <a:lstStyle/>
          <a:p>
            <a:pPr indent="0" marL="0">
              <a:buNone/>
            </a:pPr>
            <a:r>
              <a:rPr lang="en-US" sz="2000" b="1" dirty="0">
                <a:solidFill>
                  <a:schemeClr val="tx1"/>
                </a:solidFill>
              </a:rPr>
              <a:t>Check</a:t>
            </a:r>
            <a:endParaRPr lang="en-US" sz="2000" dirty="0"/>
          </a:p>
        </p:txBody>
      </p:sp>
      <p:sp>
        <p:nvSpPr>
          <p:cNvPr id="17" name="Text 15"/>
          <p:cNvSpPr txBox="1"/>
          <p:nvPr/>
        </p:nvSpPr>
        <p:spPr>
          <a:xfrm>
            <a:off x="4663440" y="2971800"/>
            <a:ext cx="1828800" cy="1280160"/>
          </a:xfrm>
          <a:prstGeom prst="rect">
            <a:avLst/>
          </a:prstGeom>
          <a:noFill/>
          <a:ln/>
        </p:spPr>
        <p:txBody>
          <a:bodyPr wrap="square" lIns="0" tIns="0" rIns="0" bIns="0" rtlCol="0" anchor="t"/>
          <a:lstStyle/>
          <a:p>
            <a:pPr indent="0" marL="0">
              <a:buNone/>
            </a:pPr>
            <a:r>
              <a:rPr lang="en-US" sz="1400" dirty="0">
                <a:solidFill>
                  <a:schemeClr val="tx2"/>
                </a:solidFill>
              </a:rPr>
              <a:t>Rain against 10 years of local history, and the crop's growth stage.</a:t>
            </a:r>
            <a:endParaRPr lang="en-US" sz="1400" dirty="0"/>
          </a:p>
        </p:txBody>
      </p:sp>
      <p:sp>
        <p:nvSpPr>
          <p:cNvPr id="18" name="Step 4"/>
          <p:cNvSpPr/>
          <p:nvPr/>
        </p:nvSpPr>
        <p:spPr>
          <a:xfrm>
            <a:off x="6720840" y="1600200"/>
            <a:ext cx="731520" cy="731520"/>
          </a:xfrm>
          <a:prstGeom prst="ellipse">
            <a:avLst/>
          </a:prstGeom>
          <a:solidFill>
            <a:schemeClr val="accent3"/>
          </a:solidFill>
          <a:ln w="12700">
            <a:solidFill>
              <a:schemeClr val="bg1"/>
            </a:solidFill>
            <a:prstDash val="solid"/>
          </a:ln>
        </p:spPr>
      </p:sp>
      <p:sp>
        <p:nvSpPr>
          <p:cNvPr id="19" name="Text 17"/>
          <p:cNvSpPr txBox="1"/>
          <p:nvPr/>
        </p:nvSpPr>
        <p:spPr>
          <a:xfrm>
            <a:off x="6720840" y="1600200"/>
            <a:ext cx="731520" cy="731520"/>
          </a:xfrm>
          <a:prstGeom prst="rect">
            <a:avLst/>
          </a:prstGeom>
          <a:noFill/>
          <a:ln/>
        </p:spPr>
        <p:txBody>
          <a:bodyPr wrap="square" lIns="0" tIns="0" rIns="0" bIns="0" rtlCol="0" anchor="ctr"/>
          <a:lstStyle/>
          <a:p>
            <a:pPr algn="ctr" indent="0" marL="0">
              <a:buNone/>
            </a:pPr>
            <a:r>
              <a:rPr lang="en-US" sz="2600" b="1" dirty="0">
                <a:solidFill>
                  <a:schemeClr val="tx1"/>
                </a:solidFill>
              </a:rPr>
              <a:t>4</a:t>
            </a:r>
            <a:endParaRPr lang="en-US" sz="2600" dirty="0"/>
          </a:p>
        </p:txBody>
      </p:sp>
      <p:sp>
        <p:nvSpPr>
          <p:cNvPr id="20" name="Text 18"/>
          <p:cNvSpPr txBox="1"/>
          <p:nvPr/>
        </p:nvSpPr>
        <p:spPr>
          <a:xfrm>
            <a:off x="6720840" y="2560320"/>
            <a:ext cx="1828800" cy="365760"/>
          </a:xfrm>
          <a:prstGeom prst="rect">
            <a:avLst/>
          </a:prstGeom>
          <a:noFill/>
          <a:ln/>
        </p:spPr>
        <p:txBody>
          <a:bodyPr wrap="square" lIns="0" tIns="0" rIns="0" bIns="0" rtlCol="0" anchor="ctr"/>
          <a:lstStyle/>
          <a:p>
            <a:pPr indent="0" marL="0">
              <a:buNone/>
            </a:pPr>
            <a:r>
              <a:rPr lang="en-US" sz="2000" b="1" dirty="0">
                <a:solidFill>
                  <a:schemeClr val="tx1"/>
                </a:solidFill>
              </a:rPr>
              <a:t>Claim kit</a:t>
            </a:r>
            <a:endParaRPr lang="en-US" sz="2000" dirty="0"/>
          </a:p>
        </p:txBody>
      </p:sp>
      <p:sp>
        <p:nvSpPr>
          <p:cNvPr id="21" name="Text 19"/>
          <p:cNvSpPr txBox="1"/>
          <p:nvPr/>
        </p:nvSpPr>
        <p:spPr>
          <a:xfrm>
            <a:off x="6720840" y="2971800"/>
            <a:ext cx="1828800" cy="1280160"/>
          </a:xfrm>
          <a:prstGeom prst="rect">
            <a:avLst/>
          </a:prstGeom>
          <a:noFill/>
          <a:ln/>
        </p:spPr>
        <p:txBody>
          <a:bodyPr wrap="square" lIns="0" tIns="0" rIns="0" bIns="0" rtlCol="0" anchor="t"/>
          <a:lstStyle/>
          <a:p>
            <a:pPr indent="0" marL="0">
              <a:buNone/>
            </a:pPr>
            <a:r>
              <a:rPr lang="en-US" sz="1400" dirty="0">
                <a:solidFill>
                  <a:schemeClr val="tx2"/>
                </a:solidFill>
              </a:rPr>
              <a:t>Route, deadline, letter, reminders and a signed report.</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046720" cy="731520"/>
          </a:xfrm>
          <a:prstGeom prst="rect">
            <a:avLst/>
          </a:prstGeom>
          <a:noFill/>
          <a:ln/>
        </p:spPr>
        <p:txBody>
          <a:bodyPr wrap="square" lIns="0" tIns="0" rIns="0" bIns="0" rtlCol="0" anchor="t"/>
          <a:lstStyle/>
          <a:p>
            <a:pPr algn="l" indent="0" marL="0">
              <a:buNone/>
            </a:pPr>
            <a:r>
              <a:rPr lang="en-US" sz="3600" b="1" dirty="0">
                <a:solidFill>
                  <a:schemeClr val="tx1"/>
                </a:solidFill>
              </a:rPr>
              <a:t>A real, documented event</a:t>
            </a:r>
            <a:endParaRPr lang="en-US" sz="3600" dirty="0"/>
          </a:p>
        </p:txBody>
      </p:sp>
      <p:sp>
        <p:nvSpPr>
          <p:cNvPr id="3" name="Event card"/>
          <p:cNvSpPr/>
          <p:nvPr/>
        </p:nvSpPr>
        <p:spPr>
          <a:xfrm>
            <a:off x="548640" y="1325880"/>
            <a:ext cx="4114800" cy="3063240"/>
          </a:xfrm>
          <a:prstGeom prst="roundRect">
            <a:avLst>
              <a:gd name="adj" fmla="val 3582"/>
            </a:avLst>
          </a:prstGeom>
          <a:solidFill>
            <a:schemeClr val="bg2"/>
          </a:solidFill>
          <a:ln w="12700">
            <a:solidFill>
              <a:schemeClr val="bg2"/>
            </a:solidFill>
            <a:prstDash val="solid"/>
          </a:ln>
        </p:spPr>
      </p:sp>
      <p:sp>
        <p:nvSpPr>
          <p:cNvPr id="4" name="Method card"/>
          <p:cNvSpPr/>
          <p:nvPr/>
        </p:nvSpPr>
        <p:spPr>
          <a:xfrm>
            <a:off x="4846320" y="1325880"/>
            <a:ext cx="3749040" cy="3063240"/>
          </a:xfrm>
          <a:prstGeom prst="roundRect">
            <a:avLst>
              <a:gd name="adj" fmla="val 3582"/>
            </a:avLst>
          </a:prstGeom>
          <a:solidFill>
            <a:schemeClr val="tx1"/>
          </a:solidFill>
          <a:ln w="12700">
            <a:solidFill>
              <a:schemeClr val="tx1"/>
            </a:solidFill>
            <a:prstDash val="solid"/>
          </a:ln>
        </p:spPr>
      </p:sp>
      <p:sp>
        <p:nvSpPr>
          <p:cNvPr id="5" name="Text 3"/>
          <p:cNvSpPr txBox="1"/>
          <p:nvPr/>
        </p:nvSpPr>
        <p:spPr>
          <a:xfrm>
            <a:off x="777240" y="1481328"/>
            <a:ext cx="3657600" cy="548640"/>
          </a:xfrm>
          <a:prstGeom prst="rect">
            <a:avLst/>
          </a:prstGeom>
          <a:noFill/>
          <a:ln/>
        </p:spPr>
        <p:txBody>
          <a:bodyPr wrap="square" lIns="0" tIns="0" rIns="0" bIns="0" rtlCol="0" anchor="t"/>
          <a:lstStyle/>
          <a:p>
            <a:pPr indent="0" marL="0">
              <a:buNone/>
            </a:pPr>
            <a:r>
              <a:rPr lang="en-US" sz="1700" b="1" dirty="0">
                <a:solidFill>
                  <a:schemeClr val="tx1"/>
                </a:solidFill>
              </a:rPr>
              <a:t>Ravi flood, Ajnala, Punjab · from 27 Aug 2025</a:t>
            </a:r>
            <a:endParaRPr lang="en-US" sz="1700" dirty="0"/>
          </a:p>
        </p:txBody>
      </p:sp>
      <p:sp>
        <p:nvSpPr>
          <p:cNvPr id="6" name="Text 4"/>
          <p:cNvSpPr txBox="1"/>
          <p:nvPr/>
        </p:nvSpPr>
        <p:spPr>
          <a:xfrm>
            <a:off x="777240" y="2103120"/>
            <a:ext cx="365760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Nearly 23,000 ha of standing crops destroyed in Ajnala</a:t>
            </a:r>
            <a:endParaRPr lang="en-US" sz="1400" dirty="0"/>
          </a:p>
          <a:p>
            <a:pPr marL="342900" indent="-342900">
              <a:spcAft>
                <a:spcPts val="800"/>
              </a:spcAft>
              <a:buSzPct val="100000"/>
              <a:buChar char="•"/>
            </a:pPr>
            <a:r>
              <a:rPr lang="en-US" sz="1400" dirty="0">
                <a:solidFill>
                  <a:schemeClr val="tx2"/>
                </a:solidFill>
              </a:rPr>
              <a:t>Paddy on 3.47 lakh acres impacted across five districts</a:t>
            </a:r>
            <a:endParaRPr lang="en-US" sz="1400" dirty="0"/>
          </a:p>
          <a:p>
            <a:pPr marL="342900" indent="-342900">
              <a:spcAft>
                <a:spcPts val="800"/>
              </a:spcAft>
              <a:buSzPct val="100000"/>
              <a:buChar char="•"/>
            </a:pPr>
            <a:r>
              <a:rPr lang="en-US" sz="1400" dirty="0">
                <a:solidFill>
                  <a:schemeClr val="tx2"/>
                </a:solidFill>
              </a:rPr>
              <a:t>About 190 villages inundated in Ajnala and Lopoke</a:t>
            </a:r>
            <a:endParaRPr lang="en-US" sz="1400" dirty="0"/>
          </a:p>
        </p:txBody>
      </p:sp>
      <p:sp>
        <p:nvSpPr>
          <p:cNvPr id="7" name="Text 5"/>
          <p:cNvSpPr txBox="1"/>
          <p:nvPr/>
        </p:nvSpPr>
        <p:spPr>
          <a:xfrm>
            <a:off x="777240" y="4005072"/>
            <a:ext cx="3657600" cy="274320"/>
          </a:xfrm>
          <a:prstGeom prst="rect">
            <a:avLst/>
          </a:prstGeom>
          <a:noFill/>
          <a:ln/>
        </p:spPr>
        <p:txBody>
          <a:bodyPr wrap="square" lIns="0" tIns="0" rIns="0" bIns="0" rtlCol="0" anchor="ctr"/>
          <a:lstStyle/>
          <a:p>
            <a:pPr indent="0" marL="0">
              <a:buNone/>
            </a:pPr>
            <a:r>
              <a:rPr lang="en-US" sz="1000" dirty="0">
                <a:solidFill>
                  <a:schemeClr val="tx2"/>
                </a:solidFill>
              </a:rPr>
              <a:t>Sources: The Tribune and SPHERE India (full list in EVIDENCE.md)</a:t>
            </a:r>
            <a:endParaRPr lang="en-US" sz="1000" dirty="0"/>
          </a:p>
        </p:txBody>
      </p:sp>
      <p:sp>
        <p:nvSpPr>
          <p:cNvPr id="8" name="Text 6"/>
          <p:cNvSpPr txBox="1"/>
          <p:nvPr/>
        </p:nvSpPr>
        <p:spPr>
          <a:xfrm>
            <a:off x="5074920" y="1481328"/>
            <a:ext cx="3291840" cy="365760"/>
          </a:xfrm>
          <a:prstGeom prst="rect">
            <a:avLst/>
          </a:prstGeom>
          <a:noFill/>
          <a:ln/>
        </p:spPr>
        <p:txBody>
          <a:bodyPr wrap="square" lIns="0" tIns="0" rIns="0" bIns="0" rtlCol="0" anchor="ctr"/>
          <a:lstStyle/>
          <a:p>
            <a:pPr indent="0" marL="0">
              <a:buNone/>
            </a:pPr>
            <a:r>
              <a:rPr lang="en-US" sz="1800" b="1" dirty="0">
                <a:solidFill>
                  <a:schemeClr val="accent1"/>
                </a:solidFill>
              </a:rPr>
              <a:t>No cherry-picking</a:t>
            </a:r>
            <a:endParaRPr lang="en-US" sz="1800" dirty="0"/>
          </a:p>
        </p:txBody>
      </p:sp>
      <p:sp>
        <p:nvSpPr>
          <p:cNvPr id="9" name="Text 7"/>
          <p:cNvSpPr txBox="1"/>
          <p:nvPr/>
        </p:nvSpPr>
        <p:spPr>
          <a:xfrm>
            <a:off x="5074920" y="2103120"/>
            <a:ext cx="329184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Field chosen by a rule fixed in advance: highest pre-flood canopy</a:t>
            </a:r>
            <a:endParaRPr lang="en-US" sz="1400" dirty="0"/>
          </a:p>
          <a:p>
            <a:pPr marL="342900" indent="-342900">
              <a:spcAft>
                <a:spcPts val="800"/>
              </a:spcAft>
              <a:buSzPct val="100000"/>
              <a:buChar char="•"/>
            </a:pPr>
            <a:r>
              <a:rPr lang="en-US" sz="1400" dirty="0">
                <a:solidFill>
                  <a:schemeClr val="bg1"/>
                </a:solidFill>
              </a:rPr>
              <a:t>All five candidate points reported, including failures</a:t>
            </a:r>
            <a:endParaRPr lang="en-US" sz="1400" dirty="0"/>
          </a:p>
          <a:p>
            <a:pPr marL="342900" indent="-342900">
              <a:spcAft>
                <a:spcPts val="800"/>
              </a:spcAft>
              <a:buSzPct val="100000"/>
              <a:buChar char="•"/>
            </a:pPr>
            <a:r>
              <a:rPr lang="en-US" sz="1400" dirty="0">
                <a:solidFill>
                  <a:schemeClr val="bg1"/>
                </a:solidFill>
              </a:rPr>
              <a:t>Same point in earlier seasons as false-positive controls</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046720" cy="731520"/>
          </a:xfrm>
          <a:prstGeom prst="rect">
            <a:avLst/>
          </a:prstGeom>
          <a:noFill/>
          <a:ln/>
        </p:spPr>
        <p:txBody>
          <a:bodyPr wrap="square" lIns="0" tIns="0" rIns="0" bIns="0" rtlCol="0" anchor="t"/>
          <a:lstStyle/>
          <a:p>
            <a:pPr algn="l" indent="0" marL="0">
              <a:buNone/>
            </a:pPr>
            <a:r>
              <a:rPr lang="en-US" sz="3600" b="1" dirty="0">
                <a:solidFill>
                  <a:schemeClr val="tx1"/>
                </a:solidFill>
              </a:rPr>
              <a:t>Free, open data end to end</a:t>
            </a:r>
            <a:endParaRPr lang="en-US" sz="3600" dirty="0"/>
          </a:p>
        </p:txBody>
      </p:sp>
      <p:sp>
        <p:nvSpPr>
          <p:cNvPr id="3" name="Browser box"/>
          <p:cNvSpPr/>
          <p:nvPr/>
        </p:nvSpPr>
        <p:spPr>
          <a:xfrm>
            <a:off x="548640" y="1463040"/>
            <a:ext cx="2468880" cy="1371600"/>
          </a:xfrm>
          <a:prstGeom prst="roundRect">
            <a:avLst>
              <a:gd name="adj" fmla="val 6667"/>
            </a:avLst>
          </a:prstGeom>
          <a:solidFill>
            <a:schemeClr val="tx1"/>
          </a:solidFill>
          <a:ln w="12700">
            <a:solidFill>
              <a:schemeClr val="tx1"/>
            </a:solidFill>
            <a:prstDash val="solid"/>
          </a:ln>
        </p:spPr>
      </p:sp>
      <p:sp>
        <p:nvSpPr>
          <p:cNvPr id="4" name="Text 2"/>
          <p:cNvSpPr txBox="1"/>
          <p:nvPr/>
        </p:nvSpPr>
        <p:spPr>
          <a:xfrm>
            <a:off x="685800" y="1572768"/>
            <a:ext cx="2194560" cy="320040"/>
          </a:xfrm>
          <a:prstGeom prst="rect">
            <a:avLst/>
          </a:prstGeom>
          <a:noFill/>
          <a:ln/>
        </p:spPr>
        <p:txBody>
          <a:bodyPr wrap="square" lIns="0" tIns="0" rIns="0" bIns="0" rtlCol="0" anchor="ctr"/>
          <a:lstStyle/>
          <a:p>
            <a:pPr indent="0" marL="0">
              <a:buNone/>
            </a:pPr>
            <a:r>
              <a:rPr lang="en-US" sz="1600" b="1" dirty="0">
                <a:solidFill>
                  <a:schemeClr val="bg1"/>
                </a:solidFill>
              </a:rPr>
              <a:t>Browser</a:t>
            </a:r>
            <a:endParaRPr lang="en-US" sz="1600" dirty="0"/>
          </a:p>
        </p:txBody>
      </p:sp>
      <p:sp>
        <p:nvSpPr>
          <p:cNvPr id="5" name="Text 3"/>
          <p:cNvSpPr txBox="1"/>
          <p:nvPr/>
        </p:nvSpPr>
        <p:spPr>
          <a:xfrm>
            <a:off x="685800" y="1920240"/>
            <a:ext cx="2194560" cy="822960"/>
          </a:xfrm>
          <a:prstGeom prst="rect">
            <a:avLst/>
          </a:prstGeom>
          <a:noFill/>
          <a:ln/>
        </p:spPr>
        <p:txBody>
          <a:bodyPr wrap="square" lIns="0" tIns="0" rIns="0" bIns="0" rtlCol="0" anchor="t"/>
          <a:lstStyle/>
          <a:p>
            <a:pPr indent="0" marL="0">
              <a:buNone/>
            </a:pPr>
            <a:r>
              <a:rPr lang="en-US" sz="1300" dirty="0">
                <a:solidFill>
                  <a:schemeClr val="bg2"/>
                </a:solidFill>
              </a:rPr>
              <a:t>React + Vite PWA, Leaflet map, charts, offline queue</a:t>
            </a:r>
            <a:endParaRPr lang="en-US" sz="1300" dirty="0"/>
          </a:p>
        </p:txBody>
      </p:sp>
      <p:sp>
        <p:nvSpPr>
          <p:cNvPr id="6" name="API box"/>
          <p:cNvSpPr/>
          <p:nvPr/>
        </p:nvSpPr>
        <p:spPr>
          <a:xfrm>
            <a:off x="3520440" y="1463040"/>
            <a:ext cx="2468880" cy="1371600"/>
          </a:xfrm>
          <a:prstGeom prst="roundRect">
            <a:avLst>
              <a:gd name="adj" fmla="val 6667"/>
            </a:avLst>
          </a:prstGeom>
          <a:solidFill>
            <a:schemeClr val="tx1"/>
          </a:solidFill>
          <a:ln w="12700">
            <a:solidFill>
              <a:schemeClr val="tx1"/>
            </a:solidFill>
            <a:prstDash val="solid"/>
          </a:ln>
        </p:spPr>
      </p:sp>
      <p:sp>
        <p:nvSpPr>
          <p:cNvPr id="7" name="Text 5"/>
          <p:cNvSpPr txBox="1"/>
          <p:nvPr/>
        </p:nvSpPr>
        <p:spPr>
          <a:xfrm>
            <a:off x="3657600" y="1572768"/>
            <a:ext cx="2194560" cy="320040"/>
          </a:xfrm>
          <a:prstGeom prst="rect">
            <a:avLst/>
          </a:prstGeom>
          <a:noFill/>
          <a:ln/>
        </p:spPr>
        <p:txBody>
          <a:bodyPr wrap="square" lIns="0" tIns="0" rIns="0" bIns="0" rtlCol="0" anchor="ctr"/>
          <a:lstStyle/>
          <a:p>
            <a:pPr indent="0" marL="0">
              <a:buNone/>
            </a:pPr>
            <a:r>
              <a:rPr lang="en-US" sz="1600" b="1" dirty="0">
                <a:solidFill>
                  <a:schemeClr val="bg1"/>
                </a:solidFill>
              </a:rPr>
              <a:t>API (Render)</a:t>
            </a:r>
            <a:endParaRPr lang="en-US" sz="1600" dirty="0"/>
          </a:p>
        </p:txBody>
      </p:sp>
      <p:sp>
        <p:nvSpPr>
          <p:cNvPr id="8" name="Text 6"/>
          <p:cNvSpPr txBox="1"/>
          <p:nvPr/>
        </p:nvSpPr>
        <p:spPr>
          <a:xfrm>
            <a:off x="3657600" y="1920240"/>
            <a:ext cx="2194560" cy="822960"/>
          </a:xfrm>
          <a:prstGeom prst="rect">
            <a:avLst/>
          </a:prstGeom>
          <a:noFill/>
          <a:ln/>
        </p:spPr>
        <p:txBody>
          <a:bodyPr wrap="square" lIns="0" tIns="0" rIns="0" bIns="0" rtlCol="0" anchor="t"/>
          <a:lstStyle/>
          <a:p>
            <a:pPr indent="0" marL="0">
              <a:buNone/>
            </a:pPr>
            <a:r>
              <a:rPr lang="en-US" sz="1300" dirty="0">
                <a:solidFill>
                  <a:schemeClr val="bg2"/>
                </a:solidFill>
              </a:rPr>
              <a:t>FastAPI in Docker: numpy, rasterio, Ed25519 signing</a:t>
            </a:r>
            <a:endParaRPr lang="en-US" sz="1300" dirty="0"/>
          </a:p>
        </p:txBody>
      </p:sp>
      <p:sp>
        <p:nvSpPr>
          <p:cNvPr id="9" name="Satellite box"/>
          <p:cNvSpPr/>
          <p:nvPr/>
        </p:nvSpPr>
        <p:spPr>
          <a:xfrm>
            <a:off x="6492240" y="1463040"/>
            <a:ext cx="2103120" cy="1371600"/>
          </a:xfrm>
          <a:prstGeom prst="roundRect">
            <a:avLst>
              <a:gd name="adj" fmla="val 6667"/>
            </a:avLst>
          </a:prstGeom>
          <a:solidFill>
            <a:schemeClr val="accent6"/>
          </a:solidFill>
          <a:ln w="12700">
            <a:solidFill>
              <a:schemeClr val="accent6"/>
            </a:solidFill>
            <a:prstDash val="solid"/>
          </a:ln>
        </p:spPr>
      </p:sp>
      <p:sp>
        <p:nvSpPr>
          <p:cNvPr id="10" name="Text 8"/>
          <p:cNvSpPr txBox="1"/>
          <p:nvPr/>
        </p:nvSpPr>
        <p:spPr>
          <a:xfrm>
            <a:off x="6629400" y="1572768"/>
            <a:ext cx="1828800" cy="320040"/>
          </a:xfrm>
          <a:prstGeom prst="rect">
            <a:avLst/>
          </a:prstGeom>
          <a:noFill/>
          <a:ln/>
        </p:spPr>
        <p:txBody>
          <a:bodyPr wrap="square" lIns="0" tIns="0" rIns="0" bIns="0" rtlCol="0" anchor="ctr"/>
          <a:lstStyle/>
          <a:p>
            <a:pPr indent="0" marL="0">
              <a:buNone/>
            </a:pPr>
            <a:r>
              <a:rPr lang="en-US" sz="1600" b="1" dirty="0">
                <a:solidFill>
                  <a:schemeClr val="bg1"/>
                </a:solidFill>
              </a:rPr>
              <a:t>Sentinel-2</a:t>
            </a:r>
            <a:endParaRPr lang="en-US" sz="1600" dirty="0"/>
          </a:p>
        </p:txBody>
      </p:sp>
      <p:sp>
        <p:nvSpPr>
          <p:cNvPr id="11" name="Text 9"/>
          <p:cNvSpPr txBox="1"/>
          <p:nvPr/>
        </p:nvSpPr>
        <p:spPr>
          <a:xfrm>
            <a:off x="6629400" y="1920240"/>
            <a:ext cx="1828800" cy="822960"/>
          </a:xfrm>
          <a:prstGeom prst="rect">
            <a:avLst/>
          </a:prstGeom>
          <a:noFill/>
          <a:ln/>
        </p:spPr>
        <p:txBody>
          <a:bodyPr wrap="square" lIns="0" tIns="0" rIns="0" bIns="0" rtlCol="0" anchor="t"/>
          <a:lstStyle/>
          <a:p>
            <a:pPr indent="0" marL="0">
              <a:buNone/>
            </a:pPr>
            <a:r>
              <a:rPr lang="en-US" sz="1300" dirty="0">
                <a:solidFill>
                  <a:schemeClr val="bg2"/>
                </a:solidFill>
              </a:rPr>
              <a:t>ESA open data on AWS, 10 m, about 5 days</a:t>
            </a:r>
            <a:endParaRPr lang="en-US" sz="1300" dirty="0"/>
          </a:p>
        </p:txBody>
      </p:sp>
      <p:sp>
        <p:nvSpPr>
          <p:cNvPr id="12" name="Arrow A"/>
          <p:cNvSpPr/>
          <p:nvPr/>
        </p:nvSpPr>
        <p:spPr>
          <a:xfrm>
            <a:off x="3063240" y="2011680"/>
            <a:ext cx="411480" cy="274320"/>
          </a:xfrm>
          <a:prstGeom prst="rightArrow">
            <a:avLst/>
          </a:prstGeom>
          <a:solidFill>
            <a:schemeClr val="accent1"/>
          </a:solidFill>
          <a:ln w="12700">
            <a:solidFill>
              <a:schemeClr val="accent1"/>
            </a:solidFill>
            <a:prstDash val="solid"/>
          </a:ln>
        </p:spPr>
      </p:sp>
      <p:sp>
        <p:nvSpPr>
          <p:cNvPr id="13" name="Arrow B"/>
          <p:cNvSpPr/>
          <p:nvPr/>
        </p:nvSpPr>
        <p:spPr>
          <a:xfrm>
            <a:off x="6035040" y="2011680"/>
            <a:ext cx="411480" cy="274320"/>
          </a:xfrm>
          <a:prstGeom prst="rightArrow">
            <a:avLst/>
          </a:prstGeom>
          <a:solidFill>
            <a:schemeClr val="accent1"/>
          </a:solidFill>
          <a:ln w="12700">
            <a:solidFill>
              <a:schemeClr val="accent1"/>
            </a:solidFill>
            <a:prstDash val="solid"/>
          </a:ln>
        </p:spPr>
      </p:sp>
      <p:sp>
        <p:nvSpPr>
          <p:cNvPr id="14" name="Support 1"/>
          <p:cNvSpPr/>
          <p:nvPr/>
        </p:nvSpPr>
        <p:spPr>
          <a:xfrm>
            <a:off x="548640" y="3200400"/>
            <a:ext cx="2560320" cy="1188720"/>
          </a:xfrm>
          <a:prstGeom prst="roundRect">
            <a:avLst>
              <a:gd name="adj" fmla="val 9231"/>
            </a:avLst>
          </a:prstGeom>
          <a:solidFill>
            <a:schemeClr val="bg2"/>
          </a:solidFill>
          <a:ln w="12700">
            <a:solidFill>
              <a:schemeClr val="bg2"/>
            </a:solidFill>
            <a:prstDash val="solid"/>
          </a:ln>
        </p:spPr>
      </p:sp>
      <p:sp>
        <p:nvSpPr>
          <p:cNvPr id="15" name="Text 13"/>
          <p:cNvSpPr txBox="1"/>
          <p:nvPr/>
        </p:nvSpPr>
        <p:spPr>
          <a:xfrm>
            <a:off x="731520" y="3310128"/>
            <a:ext cx="2194560" cy="320040"/>
          </a:xfrm>
          <a:prstGeom prst="rect">
            <a:avLst/>
          </a:prstGeom>
          <a:noFill/>
          <a:ln/>
        </p:spPr>
        <p:txBody>
          <a:bodyPr wrap="square" lIns="0" tIns="0" rIns="0" bIns="0" rtlCol="0" anchor="ctr"/>
          <a:lstStyle/>
          <a:p>
            <a:pPr indent="0" marL="0">
              <a:buNone/>
            </a:pPr>
            <a:r>
              <a:rPr lang="en-US" sz="1600" b="1" dirty="0">
                <a:solidFill>
                  <a:schemeClr val="tx1"/>
                </a:solidFill>
              </a:rPr>
              <a:t>Open-Meteo</a:t>
            </a:r>
            <a:endParaRPr lang="en-US" sz="1600" dirty="0"/>
          </a:p>
        </p:txBody>
      </p:sp>
      <p:sp>
        <p:nvSpPr>
          <p:cNvPr id="16" name="Text 14"/>
          <p:cNvSpPr txBox="1"/>
          <p:nvPr/>
        </p:nvSpPr>
        <p:spPr>
          <a:xfrm>
            <a:off x="731520" y="3675888"/>
            <a:ext cx="2194560" cy="640080"/>
          </a:xfrm>
          <a:prstGeom prst="rect">
            <a:avLst/>
          </a:prstGeom>
          <a:noFill/>
          <a:ln/>
        </p:spPr>
        <p:txBody>
          <a:bodyPr wrap="square" lIns="0" tIns="0" rIns="0" bIns="0" rtlCol="0" anchor="t"/>
          <a:lstStyle/>
          <a:p>
            <a:pPr indent="0" marL="0">
              <a:buNone/>
            </a:pPr>
            <a:r>
              <a:rPr lang="en-US" sz="1300" dirty="0">
                <a:solidFill>
                  <a:schemeClr val="tx2"/>
                </a:solidFill>
              </a:rPr>
              <a:t>Geocoding, weather and 10-year rain history</a:t>
            </a:r>
            <a:endParaRPr lang="en-US" sz="1300" dirty="0"/>
          </a:p>
        </p:txBody>
      </p:sp>
      <p:sp>
        <p:nvSpPr>
          <p:cNvPr id="17" name="Support 2"/>
          <p:cNvSpPr/>
          <p:nvPr/>
        </p:nvSpPr>
        <p:spPr>
          <a:xfrm>
            <a:off x="3291840" y="3200400"/>
            <a:ext cx="2560320" cy="1188720"/>
          </a:xfrm>
          <a:prstGeom prst="roundRect">
            <a:avLst>
              <a:gd name="adj" fmla="val 9231"/>
            </a:avLst>
          </a:prstGeom>
          <a:solidFill>
            <a:schemeClr val="bg2"/>
          </a:solidFill>
          <a:ln w="12700">
            <a:solidFill>
              <a:schemeClr val="bg2"/>
            </a:solidFill>
            <a:prstDash val="solid"/>
          </a:ln>
        </p:spPr>
      </p:sp>
      <p:sp>
        <p:nvSpPr>
          <p:cNvPr id="18" name="Text 16"/>
          <p:cNvSpPr txBox="1"/>
          <p:nvPr/>
        </p:nvSpPr>
        <p:spPr>
          <a:xfrm>
            <a:off x="3474720" y="3310128"/>
            <a:ext cx="2194560" cy="320040"/>
          </a:xfrm>
          <a:prstGeom prst="rect">
            <a:avLst/>
          </a:prstGeom>
          <a:noFill/>
          <a:ln/>
        </p:spPr>
        <p:txBody>
          <a:bodyPr wrap="square" lIns="0" tIns="0" rIns="0" bIns="0" rtlCol="0" anchor="ctr"/>
          <a:lstStyle/>
          <a:p>
            <a:pPr indent="0" marL="0">
              <a:buNone/>
            </a:pPr>
            <a:r>
              <a:rPr lang="en-US" sz="1600" b="1" dirty="0">
                <a:solidFill>
                  <a:schemeClr val="tx1"/>
                </a:solidFill>
              </a:rPr>
              <a:t>Statistics</a:t>
            </a:r>
            <a:endParaRPr lang="en-US" sz="1600" dirty="0"/>
          </a:p>
        </p:txBody>
      </p:sp>
      <p:sp>
        <p:nvSpPr>
          <p:cNvPr id="19" name="Text 17"/>
          <p:cNvSpPr txBox="1"/>
          <p:nvPr/>
        </p:nvSpPr>
        <p:spPr>
          <a:xfrm>
            <a:off x="3474720" y="3675888"/>
            <a:ext cx="2194560" cy="640080"/>
          </a:xfrm>
          <a:prstGeom prst="rect">
            <a:avLst/>
          </a:prstGeom>
          <a:noFill/>
          <a:ln/>
        </p:spPr>
        <p:txBody>
          <a:bodyPr wrap="square" lIns="0" tIns="0" rIns="0" bIns="0" rtlCol="0" anchor="t"/>
          <a:lstStyle/>
          <a:p>
            <a:pPr indent="0" marL="0">
              <a:buNone/>
            </a:pPr>
            <a:r>
              <a:rPr lang="en-US" sz="1300" dirty="0">
                <a:solidFill>
                  <a:schemeClr val="tx2"/>
                </a:solidFill>
              </a:rPr>
              <a:t>Theil-Sen, bootstrap, change-point, k-means</a:t>
            </a:r>
            <a:endParaRPr lang="en-US" sz="1300" dirty="0"/>
          </a:p>
        </p:txBody>
      </p:sp>
      <p:sp>
        <p:nvSpPr>
          <p:cNvPr id="20" name="Support 3"/>
          <p:cNvSpPr/>
          <p:nvPr/>
        </p:nvSpPr>
        <p:spPr>
          <a:xfrm>
            <a:off x="6035040" y="3200400"/>
            <a:ext cx="2560320" cy="1188720"/>
          </a:xfrm>
          <a:prstGeom prst="roundRect">
            <a:avLst>
              <a:gd name="adj" fmla="val 9231"/>
            </a:avLst>
          </a:prstGeom>
          <a:solidFill>
            <a:schemeClr val="bg2"/>
          </a:solidFill>
          <a:ln w="12700">
            <a:solidFill>
              <a:schemeClr val="bg2"/>
            </a:solidFill>
            <a:prstDash val="solid"/>
          </a:ln>
        </p:spPr>
      </p:sp>
      <p:sp>
        <p:nvSpPr>
          <p:cNvPr id="21" name="Text 19"/>
          <p:cNvSpPr txBox="1"/>
          <p:nvPr/>
        </p:nvSpPr>
        <p:spPr>
          <a:xfrm>
            <a:off x="6217920" y="3310128"/>
            <a:ext cx="2194560" cy="320040"/>
          </a:xfrm>
          <a:prstGeom prst="rect">
            <a:avLst/>
          </a:prstGeom>
          <a:noFill/>
          <a:ln/>
        </p:spPr>
        <p:txBody>
          <a:bodyPr wrap="square" lIns="0" tIns="0" rIns="0" bIns="0" rtlCol="0" anchor="ctr"/>
          <a:lstStyle/>
          <a:p>
            <a:pPr indent="0" marL="0">
              <a:buNone/>
            </a:pPr>
            <a:r>
              <a:rPr lang="en-US" sz="1600" b="1" dirty="0">
                <a:solidFill>
                  <a:schemeClr val="tx1"/>
                </a:solidFill>
              </a:rPr>
              <a:t>Hosting</a:t>
            </a:r>
            <a:endParaRPr lang="en-US" sz="1600" dirty="0"/>
          </a:p>
        </p:txBody>
      </p:sp>
      <p:sp>
        <p:nvSpPr>
          <p:cNvPr id="22" name="Text 20"/>
          <p:cNvSpPr txBox="1"/>
          <p:nvPr/>
        </p:nvSpPr>
        <p:spPr>
          <a:xfrm>
            <a:off x="6217920" y="3675888"/>
            <a:ext cx="2194560" cy="640080"/>
          </a:xfrm>
          <a:prstGeom prst="rect">
            <a:avLst/>
          </a:prstGeom>
          <a:noFill/>
          <a:ln/>
        </p:spPr>
        <p:txBody>
          <a:bodyPr wrap="square" lIns="0" tIns="0" rIns="0" bIns="0" rtlCol="0" anchor="t"/>
          <a:lstStyle/>
          <a:p>
            <a:pPr indent="0" marL="0">
              <a:buNone/>
            </a:pPr>
            <a:r>
              <a:rPr lang="en-US" sz="1300" dirty="0">
                <a:solidFill>
                  <a:schemeClr val="tx2"/>
                </a:solidFill>
              </a:rPr>
              <a:t>GitHub Pages and Render, CI with pytest and Node tests</a:t>
            </a:r>
            <a:endParaRPr lang="en-US" sz="13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046720" cy="731520"/>
          </a:xfrm>
          <a:prstGeom prst="rect">
            <a:avLst/>
          </a:prstGeom>
          <a:noFill/>
          <a:ln/>
        </p:spPr>
        <p:txBody>
          <a:bodyPr wrap="square" lIns="0" tIns="0" rIns="0" bIns="0" rtlCol="0" anchor="t"/>
          <a:lstStyle/>
          <a:p>
            <a:pPr algn="l" indent="0" marL="0">
              <a:buNone/>
            </a:pPr>
            <a:r>
              <a:rPr lang="en-US" sz="3600" b="1" dirty="0">
                <a:solidFill>
                  <a:schemeClr val="tx1"/>
                </a:solidFill>
              </a:rPr>
              <a:t>What the farmer gets</a:t>
            </a:r>
            <a:endParaRPr lang="en-US" sz="3600" dirty="0"/>
          </a:p>
        </p:txBody>
      </p:sp>
      <p:sp>
        <p:nvSpPr>
          <p:cNvPr id="3" name="Feature 1"/>
          <p:cNvSpPr/>
          <p:nvPr/>
        </p:nvSpPr>
        <p:spPr>
          <a:xfrm>
            <a:off x="548640" y="1371600"/>
            <a:ext cx="2560320" cy="1463040"/>
          </a:xfrm>
          <a:prstGeom prst="roundRect">
            <a:avLst>
              <a:gd name="adj" fmla="val 7500"/>
            </a:avLst>
          </a:prstGeom>
          <a:solidFill>
            <a:schemeClr val="bg2"/>
          </a:solidFill>
          <a:ln w="12700">
            <a:solidFill>
              <a:schemeClr val="bg2"/>
            </a:solidFill>
            <a:prstDash val="solid"/>
          </a:ln>
        </p:spPr>
      </p:sp>
      <p:sp>
        <p:nvSpPr>
          <p:cNvPr id="4" name="Loss with a range badge"/>
          <p:cNvSpPr/>
          <p:nvPr/>
        </p:nvSpPr>
        <p:spPr>
          <a:xfrm>
            <a:off x="731520" y="1554480"/>
            <a:ext cx="502920" cy="502920"/>
          </a:xfrm>
          <a:prstGeom prst="ellipse">
            <a:avLst/>
          </a:prstGeom>
          <a:solidFill>
            <a:schemeClr val="tx1"/>
          </a:solidFill>
          <a:ln w="12700">
            <a:solidFill>
              <a:schemeClr val="tx1"/>
            </a:solidFill>
            <a:prstDash val="solid"/>
          </a:ln>
        </p:spPr>
      </p:sp>
      <p:pic>
        <p:nvPicPr>
          <p:cNvPr id="5" name="Loss with a range icon" descr="Loss with a range">    </p:cNvPr>
          <p:cNvPicPr>
            <a:picLocks noChangeAspect="1"/>
          </p:cNvPicPr>
          <p:nvPr/>
        </p:nvPicPr>
        <p:blipFill>
          <a:blip r:embed="rId1"/>
          <a:stretch>
            <a:fillRect/>
          </a:stretch>
        </p:blipFill>
        <p:spPr>
          <a:xfrm>
            <a:off x="857250" y="1680210"/>
            <a:ext cx="251460" cy="251460"/>
          </a:xfrm>
          <a:prstGeom prst="rect">
            <a:avLst/>
          </a:prstGeom>
        </p:spPr>
      </p:pic>
      <p:sp>
        <p:nvSpPr>
          <p:cNvPr id="6" name="Text 3"/>
          <p:cNvSpPr txBox="1"/>
          <p:nvPr/>
        </p:nvSpPr>
        <p:spPr>
          <a:xfrm>
            <a:off x="1371600" y="1572768"/>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Loss with a range</a:t>
            </a:r>
            <a:endParaRPr lang="en-US" sz="1600" dirty="0"/>
          </a:p>
        </p:txBody>
      </p:sp>
      <p:sp>
        <p:nvSpPr>
          <p:cNvPr id="7" name="Text 4"/>
          <p:cNvSpPr txBox="1"/>
          <p:nvPr/>
        </p:nvSpPr>
        <p:spPr>
          <a:xfrm>
            <a:off x="731520" y="2194560"/>
            <a:ext cx="2240280" cy="548640"/>
          </a:xfrm>
          <a:prstGeom prst="rect">
            <a:avLst/>
          </a:prstGeom>
          <a:noFill/>
          <a:ln/>
        </p:spPr>
        <p:txBody>
          <a:bodyPr wrap="square" lIns="0" tIns="0" rIns="0" bIns="0" rtlCol="0" anchor="t"/>
          <a:lstStyle/>
          <a:p>
            <a:pPr indent="0" marL="0">
              <a:buNone/>
            </a:pPr>
            <a:r>
              <a:rPr lang="en-US" sz="1300" dirty="0">
                <a:solidFill>
                  <a:schemeClr val="tx2"/>
                </a:solidFill>
              </a:rPr>
              <a:t>Vegetation loss with a 95% interval, not one number.</a:t>
            </a:r>
            <a:endParaRPr lang="en-US" sz="1300" dirty="0"/>
          </a:p>
        </p:txBody>
      </p:sp>
      <p:sp>
        <p:nvSpPr>
          <p:cNvPr id="8" name="Feature 2"/>
          <p:cNvSpPr/>
          <p:nvPr/>
        </p:nvSpPr>
        <p:spPr>
          <a:xfrm>
            <a:off x="3291840" y="1371600"/>
            <a:ext cx="2560320" cy="1463040"/>
          </a:xfrm>
          <a:prstGeom prst="roundRect">
            <a:avLst>
              <a:gd name="adj" fmla="val 7500"/>
            </a:avLst>
          </a:prstGeom>
          <a:solidFill>
            <a:schemeClr val="bg2"/>
          </a:solidFill>
          <a:ln w="12700">
            <a:solidFill>
              <a:schemeClr val="bg2"/>
            </a:solidFill>
            <a:prstDash val="solid"/>
          </a:ln>
        </p:spPr>
      </p:sp>
      <p:sp>
        <p:nvSpPr>
          <p:cNvPr id="9" name="Damage-zone map badge"/>
          <p:cNvSpPr/>
          <p:nvPr/>
        </p:nvSpPr>
        <p:spPr>
          <a:xfrm>
            <a:off x="3474720" y="1554480"/>
            <a:ext cx="502920" cy="502920"/>
          </a:xfrm>
          <a:prstGeom prst="ellipse">
            <a:avLst/>
          </a:prstGeom>
          <a:solidFill>
            <a:schemeClr val="tx1"/>
          </a:solidFill>
          <a:ln w="12700">
            <a:solidFill>
              <a:schemeClr val="tx1"/>
            </a:solidFill>
            <a:prstDash val="solid"/>
          </a:ln>
        </p:spPr>
      </p:sp>
      <p:pic>
        <p:nvPicPr>
          <p:cNvPr id="10" name="Damage-zone map icon" descr="Damage-zone map">    </p:cNvPr>
          <p:cNvPicPr>
            <a:picLocks noChangeAspect="1"/>
          </p:cNvPicPr>
          <p:nvPr/>
        </p:nvPicPr>
        <p:blipFill>
          <a:blip r:embed="rId2"/>
          <a:stretch>
            <a:fillRect/>
          </a:stretch>
        </p:blipFill>
        <p:spPr>
          <a:xfrm>
            <a:off x="3600450" y="1680210"/>
            <a:ext cx="251460" cy="251460"/>
          </a:xfrm>
          <a:prstGeom prst="rect">
            <a:avLst/>
          </a:prstGeom>
        </p:spPr>
      </p:pic>
      <p:sp>
        <p:nvSpPr>
          <p:cNvPr id="11" name="Text 7"/>
          <p:cNvSpPr txBox="1"/>
          <p:nvPr/>
        </p:nvSpPr>
        <p:spPr>
          <a:xfrm>
            <a:off x="4114800" y="1572768"/>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Damage-zone map</a:t>
            </a:r>
            <a:endParaRPr lang="en-US" sz="1600" dirty="0"/>
          </a:p>
        </p:txBody>
      </p:sp>
      <p:sp>
        <p:nvSpPr>
          <p:cNvPr id="12" name="Text 8"/>
          <p:cNvSpPr txBox="1"/>
          <p:nvPr/>
        </p:nvSpPr>
        <p:spPr>
          <a:xfrm>
            <a:off x="3474720" y="2194560"/>
            <a:ext cx="2240280" cy="548640"/>
          </a:xfrm>
          <a:prstGeom prst="rect">
            <a:avLst/>
          </a:prstGeom>
          <a:noFill/>
          <a:ln/>
        </p:spPr>
        <p:txBody>
          <a:bodyPr wrap="square" lIns="0" tIns="0" rIns="0" bIns="0" rtlCol="0" anchor="t"/>
          <a:lstStyle/>
          <a:p>
            <a:pPr indent="0" marL="0">
              <a:buNone/>
            </a:pPr>
            <a:r>
              <a:rPr lang="en-US" sz="1300" dirty="0">
                <a:solidFill>
                  <a:schemeClr val="tx2"/>
                </a:solidFill>
              </a:rPr>
              <a:t>Severe, moderate and stable zones on the field.</a:t>
            </a:r>
            <a:endParaRPr lang="en-US" sz="1300" dirty="0"/>
          </a:p>
        </p:txBody>
      </p:sp>
      <p:sp>
        <p:nvSpPr>
          <p:cNvPr id="13" name="Feature 3"/>
          <p:cNvSpPr/>
          <p:nvPr/>
        </p:nvSpPr>
        <p:spPr>
          <a:xfrm>
            <a:off x="6035040" y="1371600"/>
            <a:ext cx="2560320" cy="1463040"/>
          </a:xfrm>
          <a:prstGeom prst="roundRect">
            <a:avLst>
              <a:gd name="adj" fmla="val 7500"/>
            </a:avLst>
          </a:prstGeom>
          <a:solidFill>
            <a:schemeClr val="bg2"/>
          </a:solidFill>
          <a:ln w="12700">
            <a:solidFill>
              <a:schemeClr val="bg2"/>
            </a:solidFill>
            <a:prstDash val="solid"/>
          </a:ln>
        </p:spPr>
      </p:sp>
      <p:sp>
        <p:nvSpPr>
          <p:cNvPr id="14" name="Weather check badge"/>
          <p:cNvSpPr/>
          <p:nvPr/>
        </p:nvSpPr>
        <p:spPr>
          <a:xfrm>
            <a:off x="6217920" y="1554480"/>
            <a:ext cx="502920" cy="502920"/>
          </a:xfrm>
          <a:prstGeom prst="ellipse">
            <a:avLst/>
          </a:prstGeom>
          <a:solidFill>
            <a:schemeClr val="tx1"/>
          </a:solidFill>
          <a:ln w="12700">
            <a:solidFill>
              <a:schemeClr val="tx1"/>
            </a:solidFill>
            <a:prstDash val="solid"/>
          </a:ln>
        </p:spPr>
      </p:sp>
      <p:pic>
        <p:nvPicPr>
          <p:cNvPr id="15" name="Weather check icon" descr="Weather check">    </p:cNvPr>
          <p:cNvPicPr>
            <a:picLocks noChangeAspect="1"/>
          </p:cNvPicPr>
          <p:nvPr/>
        </p:nvPicPr>
        <p:blipFill>
          <a:blip r:embed="rId3"/>
          <a:stretch>
            <a:fillRect/>
          </a:stretch>
        </p:blipFill>
        <p:spPr>
          <a:xfrm>
            <a:off x="6343650" y="1680210"/>
            <a:ext cx="251460" cy="251460"/>
          </a:xfrm>
          <a:prstGeom prst="rect">
            <a:avLst/>
          </a:prstGeom>
        </p:spPr>
      </p:pic>
      <p:sp>
        <p:nvSpPr>
          <p:cNvPr id="16" name="Text 11"/>
          <p:cNvSpPr txBox="1"/>
          <p:nvPr/>
        </p:nvSpPr>
        <p:spPr>
          <a:xfrm>
            <a:off x="6858000" y="1572768"/>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Weather check</a:t>
            </a:r>
            <a:endParaRPr lang="en-US" sz="1600" dirty="0"/>
          </a:p>
        </p:txBody>
      </p:sp>
      <p:sp>
        <p:nvSpPr>
          <p:cNvPr id="17" name="Text 12"/>
          <p:cNvSpPr txBox="1"/>
          <p:nvPr/>
        </p:nvSpPr>
        <p:spPr>
          <a:xfrm>
            <a:off x="6217920" y="2194560"/>
            <a:ext cx="2240280" cy="548640"/>
          </a:xfrm>
          <a:prstGeom prst="rect">
            <a:avLst/>
          </a:prstGeom>
          <a:noFill/>
          <a:ln/>
        </p:spPr>
        <p:txBody>
          <a:bodyPr wrap="square" lIns="0" tIns="0" rIns="0" bIns="0" rtlCol="0" anchor="t"/>
          <a:lstStyle/>
          <a:p>
            <a:pPr indent="0" marL="0">
              <a:buNone/>
            </a:pPr>
            <a:r>
              <a:rPr lang="en-US" sz="1300" dirty="0">
                <a:solidFill>
                  <a:schemeClr val="tx2"/>
                </a:solidFill>
              </a:rPr>
              <a:t>Rain ranked against that place's own 10 years.</a:t>
            </a:r>
            <a:endParaRPr lang="en-US" sz="1300" dirty="0"/>
          </a:p>
        </p:txBody>
      </p:sp>
      <p:sp>
        <p:nvSpPr>
          <p:cNvPr id="18" name="Feature 4"/>
          <p:cNvSpPr/>
          <p:nvPr/>
        </p:nvSpPr>
        <p:spPr>
          <a:xfrm>
            <a:off x="548640" y="3017520"/>
            <a:ext cx="2560320" cy="1463040"/>
          </a:xfrm>
          <a:prstGeom prst="roundRect">
            <a:avLst>
              <a:gd name="adj" fmla="val 7500"/>
            </a:avLst>
          </a:prstGeom>
          <a:solidFill>
            <a:schemeClr val="bg2"/>
          </a:solidFill>
          <a:ln w="12700">
            <a:solidFill>
              <a:schemeClr val="bg2"/>
            </a:solidFill>
            <a:prstDash val="solid"/>
          </a:ln>
        </p:spPr>
      </p:sp>
      <p:sp>
        <p:nvSpPr>
          <p:cNvPr id="19" name="Crop-aware badge"/>
          <p:cNvSpPr/>
          <p:nvPr/>
        </p:nvSpPr>
        <p:spPr>
          <a:xfrm>
            <a:off x="731520" y="3200400"/>
            <a:ext cx="502920" cy="502920"/>
          </a:xfrm>
          <a:prstGeom prst="ellipse">
            <a:avLst/>
          </a:prstGeom>
          <a:solidFill>
            <a:schemeClr val="tx1"/>
          </a:solidFill>
          <a:ln w="12700">
            <a:solidFill>
              <a:schemeClr val="tx1"/>
            </a:solidFill>
            <a:prstDash val="solid"/>
          </a:ln>
        </p:spPr>
      </p:sp>
      <p:pic>
        <p:nvPicPr>
          <p:cNvPr id="20" name="Crop-aware icon" descr="Crop-aware">    </p:cNvPr>
          <p:cNvPicPr>
            <a:picLocks noChangeAspect="1"/>
          </p:cNvPicPr>
          <p:nvPr/>
        </p:nvPicPr>
        <p:blipFill>
          <a:blip r:embed="rId4"/>
          <a:stretch>
            <a:fillRect/>
          </a:stretch>
        </p:blipFill>
        <p:spPr>
          <a:xfrm>
            <a:off x="857250" y="3326130"/>
            <a:ext cx="251460" cy="251460"/>
          </a:xfrm>
          <a:prstGeom prst="rect">
            <a:avLst/>
          </a:prstGeom>
        </p:spPr>
      </p:pic>
      <p:sp>
        <p:nvSpPr>
          <p:cNvPr id="21" name="Text 15"/>
          <p:cNvSpPr txBox="1"/>
          <p:nvPr/>
        </p:nvSpPr>
        <p:spPr>
          <a:xfrm>
            <a:off x="1371600" y="3218688"/>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Crop-aware</a:t>
            </a:r>
            <a:endParaRPr lang="en-US" sz="1600" dirty="0"/>
          </a:p>
        </p:txBody>
      </p:sp>
      <p:sp>
        <p:nvSpPr>
          <p:cNvPr id="22" name="Text 16"/>
          <p:cNvSpPr txBox="1"/>
          <p:nvPr/>
        </p:nvSpPr>
        <p:spPr>
          <a:xfrm>
            <a:off x="731520" y="3840480"/>
            <a:ext cx="2240280" cy="548640"/>
          </a:xfrm>
          <a:prstGeom prst="rect">
            <a:avLst/>
          </a:prstGeom>
          <a:noFill/>
          <a:ln/>
        </p:spPr>
        <p:txBody>
          <a:bodyPr wrap="square" lIns="0" tIns="0" rIns="0" bIns="0" rtlCol="0" anchor="t"/>
          <a:lstStyle/>
          <a:p>
            <a:pPr indent="0" marL="0">
              <a:buNone/>
            </a:pPr>
            <a:r>
              <a:rPr lang="en-US" sz="1300" dirty="0">
                <a:solidFill>
                  <a:schemeClr val="tx2"/>
                </a:solidFill>
              </a:rPr>
              <a:t>20 crops, growth stage and ripening guard.</a:t>
            </a:r>
            <a:endParaRPr lang="en-US" sz="1300" dirty="0"/>
          </a:p>
        </p:txBody>
      </p:sp>
      <p:sp>
        <p:nvSpPr>
          <p:cNvPr id="23" name="Feature 5"/>
          <p:cNvSpPr/>
          <p:nvPr/>
        </p:nvSpPr>
        <p:spPr>
          <a:xfrm>
            <a:off x="3291840" y="3017520"/>
            <a:ext cx="2560320" cy="1463040"/>
          </a:xfrm>
          <a:prstGeom prst="roundRect">
            <a:avLst>
              <a:gd name="adj" fmla="val 7500"/>
            </a:avLst>
          </a:prstGeom>
          <a:solidFill>
            <a:schemeClr val="bg2"/>
          </a:solidFill>
          <a:ln w="12700">
            <a:solidFill>
              <a:schemeClr val="bg2"/>
            </a:solidFill>
            <a:prstDash val="solid"/>
          </a:ln>
        </p:spPr>
      </p:sp>
      <p:sp>
        <p:nvSpPr>
          <p:cNvPr id="24" name="Signed report badge"/>
          <p:cNvSpPr/>
          <p:nvPr/>
        </p:nvSpPr>
        <p:spPr>
          <a:xfrm>
            <a:off x="3474720" y="3200400"/>
            <a:ext cx="502920" cy="502920"/>
          </a:xfrm>
          <a:prstGeom prst="ellipse">
            <a:avLst/>
          </a:prstGeom>
          <a:solidFill>
            <a:schemeClr val="tx1"/>
          </a:solidFill>
          <a:ln w="12700">
            <a:solidFill>
              <a:schemeClr val="tx1"/>
            </a:solidFill>
            <a:prstDash val="solid"/>
          </a:ln>
        </p:spPr>
      </p:sp>
      <p:pic>
        <p:nvPicPr>
          <p:cNvPr id="25" name="Signed report icon" descr="Signed report">    </p:cNvPr>
          <p:cNvPicPr>
            <a:picLocks noChangeAspect="1"/>
          </p:cNvPicPr>
          <p:nvPr/>
        </p:nvPicPr>
        <p:blipFill>
          <a:blip r:embed="rId5"/>
          <a:stretch>
            <a:fillRect/>
          </a:stretch>
        </p:blipFill>
        <p:spPr>
          <a:xfrm>
            <a:off x="3600450" y="3326130"/>
            <a:ext cx="251460" cy="251460"/>
          </a:xfrm>
          <a:prstGeom prst="rect">
            <a:avLst/>
          </a:prstGeom>
        </p:spPr>
      </p:pic>
      <p:sp>
        <p:nvSpPr>
          <p:cNvPr id="26" name="Text 19"/>
          <p:cNvSpPr txBox="1"/>
          <p:nvPr/>
        </p:nvSpPr>
        <p:spPr>
          <a:xfrm>
            <a:off x="4114800" y="3218688"/>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Signed report</a:t>
            </a:r>
            <a:endParaRPr lang="en-US" sz="1600" dirty="0"/>
          </a:p>
        </p:txBody>
      </p:sp>
      <p:sp>
        <p:nvSpPr>
          <p:cNvPr id="27" name="Text 20"/>
          <p:cNvSpPr txBox="1"/>
          <p:nvPr/>
        </p:nvSpPr>
        <p:spPr>
          <a:xfrm>
            <a:off x="3474720" y="3840480"/>
            <a:ext cx="2240280" cy="548640"/>
          </a:xfrm>
          <a:prstGeom prst="rect">
            <a:avLst/>
          </a:prstGeom>
          <a:noFill/>
          <a:ln/>
        </p:spPr>
        <p:txBody>
          <a:bodyPr wrap="square" lIns="0" tIns="0" rIns="0" bIns="0" rtlCol="0" anchor="t"/>
          <a:lstStyle/>
          <a:p>
            <a:pPr indent="0" marL="0">
              <a:buNone/>
            </a:pPr>
            <a:r>
              <a:rPr lang="en-US" sz="1300" dirty="0">
                <a:solidFill>
                  <a:schemeClr val="tx2"/>
                </a:solidFill>
              </a:rPr>
              <a:t>Anyone can verify it has not been edited.</a:t>
            </a:r>
            <a:endParaRPr lang="en-US" sz="1300" dirty="0"/>
          </a:p>
        </p:txBody>
      </p:sp>
      <p:sp>
        <p:nvSpPr>
          <p:cNvPr id="28" name="Feature 6"/>
          <p:cNvSpPr/>
          <p:nvPr/>
        </p:nvSpPr>
        <p:spPr>
          <a:xfrm>
            <a:off x="6035040" y="3017520"/>
            <a:ext cx="2560320" cy="1463040"/>
          </a:xfrm>
          <a:prstGeom prst="roundRect">
            <a:avLst>
              <a:gd name="adj" fmla="val 7500"/>
            </a:avLst>
          </a:prstGeom>
          <a:solidFill>
            <a:schemeClr val="bg2"/>
          </a:solidFill>
          <a:ln w="12700">
            <a:solidFill>
              <a:schemeClr val="bg2"/>
            </a:solidFill>
            <a:prstDash val="solid"/>
          </a:ln>
        </p:spPr>
      </p:sp>
      <p:sp>
        <p:nvSpPr>
          <p:cNvPr id="29" name="Six languages badge"/>
          <p:cNvSpPr/>
          <p:nvPr/>
        </p:nvSpPr>
        <p:spPr>
          <a:xfrm>
            <a:off x="6217920" y="3200400"/>
            <a:ext cx="502920" cy="502920"/>
          </a:xfrm>
          <a:prstGeom prst="ellipse">
            <a:avLst/>
          </a:prstGeom>
          <a:solidFill>
            <a:schemeClr val="tx1"/>
          </a:solidFill>
          <a:ln w="12700">
            <a:solidFill>
              <a:schemeClr val="tx1"/>
            </a:solidFill>
            <a:prstDash val="solid"/>
          </a:ln>
        </p:spPr>
      </p:sp>
      <p:pic>
        <p:nvPicPr>
          <p:cNvPr id="30" name="Six languages icon" descr="Six languages">    </p:cNvPr>
          <p:cNvPicPr>
            <a:picLocks noChangeAspect="1"/>
          </p:cNvPicPr>
          <p:nvPr/>
        </p:nvPicPr>
        <p:blipFill>
          <a:blip r:embed="rId6"/>
          <a:stretch>
            <a:fillRect/>
          </a:stretch>
        </p:blipFill>
        <p:spPr>
          <a:xfrm>
            <a:off x="6343650" y="3326130"/>
            <a:ext cx="251460" cy="251460"/>
          </a:xfrm>
          <a:prstGeom prst="rect">
            <a:avLst/>
          </a:prstGeom>
        </p:spPr>
      </p:pic>
      <p:sp>
        <p:nvSpPr>
          <p:cNvPr id="31" name="Text 23"/>
          <p:cNvSpPr txBox="1"/>
          <p:nvPr/>
        </p:nvSpPr>
        <p:spPr>
          <a:xfrm>
            <a:off x="6858000" y="3218688"/>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Six languages</a:t>
            </a:r>
            <a:endParaRPr lang="en-US" sz="1600" dirty="0"/>
          </a:p>
        </p:txBody>
      </p:sp>
      <p:sp>
        <p:nvSpPr>
          <p:cNvPr id="32" name="Text 24"/>
          <p:cNvSpPr txBox="1"/>
          <p:nvPr/>
        </p:nvSpPr>
        <p:spPr>
          <a:xfrm>
            <a:off x="6217920" y="3840480"/>
            <a:ext cx="2240280" cy="548640"/>
          </a:xfrm>
          <a:prstGeom prst="rect">
            <a:avLst/>
          </a:prstGeom>
          <a:noFill/>
          <a:ln/>
        </p:spPr>
        <p:txBody>
          <a:bodyPr wrap="square" lIns="0" tIns="0" rIns="0" bIns="0" rtlCol="0" anchor="t"/>
          <a:lstStyle/>
          <a:p>
            <a:pPr indent="0" marL="0">
              <a:buNone/>
            </a:pPr>
            <a:r>
              <a:rPr lang="en-US" sz="1300" dirty="0">
                <a:solidFill>
                  <a:schemeClr val="tx2"/>
                </a:solidFill>
              </a:rPr>
              <a:t>Assistant, letter and report, worldwide.</a:t>
            </a:r>
            <a:endParaRPr lang="en-US" sz="13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046720" cy="731520"/>
          </a:xfrm>
          <a:prstGeom prst="rect">
            <a:avLst/>
          </a:prstGeom>
          <a:noFill/>
          <a:ln/>
        </p:spPr>
        <p:txBody>
          <a:bodyPr wrap="square" lIns="0" tIns="0" rIns="0" bIns="0" rtlCol="0" anchor="t"/>
          <a:lstStyle/>
          <a:p>
            <a:pPr algn="l" indent="0" marL="0">
              <a:buNone/>
            </a:pPr>
            <a:r>
              <a:rPr lang="en-US" sz="3600" b="1" dirty="0">
                <a:solidFill>
                  <a:schemeClr val="tx1"/>
                </a:solidFill>
              </a:rPr>
              <a:t>More than a dashboard</a:t>
            </a:r>
            <a:endParaRPr lang="en-US" sz="3600" dirty="0"/>
          </a:p>
        </p:txBody>
      </p:sp>
      <p:sp>
        <p:nvSpPr>
          <p:cNvPr id="3" name="Dashboard card"/>
          <p:cNvSpPr/>
          <p:nvPr/>
        </p:nvSpPr>
        <p:spPr>
          <a:xfrm>
            <a:off x="548640" y="1371600"/>
            <a:ext cx="3931920" cy="3108960"/>
          </a:xfrm>
          <a:prstGeom prst="roundRect">
            <a:avLst>
              <a:gd name="adj" fmla="val 3529"/>
            </a:avLst>
          </a:prstGeom>
          <a:solidFill>
            <a:schemeClr val="bg2"/>
          </a:solidFill>
          <a:ln w="12700">
            <a:solidFill>
              <a:schemeClr val="bg2"/>
            </a:solidFill>
            <a:prstDash val="solid"/>
          </a:ln>
        </p:spPr>
      </p:sp>
      <p:sp>
        <p:nvSpPr>
          <p:cNvPr id="4" name="FasalProof card"/>
          <p:cNvSpPr/>
          <p:nvPr/>
        </p:nvSpPr>
        <p:spPr>
          <a:xfrm>
            <a:off x="4663440" y="1371600"/>
            <a:ext cx="3931920" cy="3108960"/>
          </a:xfrm>
          <a:prstGeom prst="roundRect">
            <a:avLst>
              <a:gd name="adj" fmla="val 3529"/>
            </a:avLst>
          </a:prstGeom>
          <a:solidFill>
            <a:schemeClr val="tx1"/>
          </a:solidFill>
          <a:ln w="12700">
            <a:solidFill>
              <a:schemeClr val="tx1"/>
            </a:solidFill>
            <a:prstDash val="solid"/>
          </a:ln>
        </p:spPr>
      </p:sp>
      <p:sp>
        <p:nvSpPr>
          <p:cNvPr id="5" name="Text 3"/>
          <p:cNvSpPr txBox="1"/>
          <p:nvPr/>
        </p:nvSpPr>
        <p:spPr>
          <a:xfrm>
            <a:off x="777240" y="1554480"/>
            <a:ext cx="3474720" cy="365760"/>
          </a:xfrm>
          <a:prstGeom prst="rect">
            <a:avLst/>
          </a:prstGeom>
          <a:noFill/>
          <a:ln/>
        </p:spPr>
        <p:txBody>
          <a:bodyPr wrap="square" lIns="0" tIns="0" rIns="0" bIns="0" rtlCol="0" anchor="ctr"/>
          <a:lstStyle/>
          <a:p>
            <a:pPr indent="0" marL="0">
              <a:buNone/>
            </a:pPr>
            <a:r>
              <a:rPr lang="en-US" sz="2000" b="1" dirty="0">
                <a:solidFill>
                  <a:schemeClr val="tx1"/>
                </a:solidFill>
              </a:rPr>
              <a:t>A conventional dashboard</a:t>
            </a:r>
            <a:endParaRPr lang="en-US" sz="2000" dirty="0"/>
          </a:p>
        </p:txBody>
      </p:sp>
      <p:sp>
        <p:nvSpPr>
          <p:cNvPr id="6" name="Text 4"/>
          <p:cNvSpPr txBox="1"/>
          <p:nvPr/>
        </p:nvSpPr>
        <p:spPr>
          <a:xfrm>
            <a:off x="777240" y="2057400"/>
            <a:ext cx="34747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Aggregates by district or region</a:t>
            </a:r>
            <a:endParaRPr lang="en-US" sz="1400" dirty="0"/>
          </a:p>
          <a:p>
            <a:pPr marL="342900" indent="-342900">
              <a:spcAft>
                <a:spcPts val="800"/>
              </a:spcAft>
              <a:buSzPct val="100000"/>
              <a:buChar char="•"/>
            </a:pPr>
            <a:r>
              <a:rPr lang="en-US" sz="1400" dirty="0">
                <a:solidFill>
                  <a:schemeClr val="tx2"/>
                </a:solidFill>
              </a:rPr>
              <a:t>Asks: how is the season going?</a:t>
            </a:r>
            <a:endParaRPr lang="en-US" sz="1400" dirty="0"/>
          </a:p>
          <a:p>
            <a:pPr marL="342900" indent="-342900">
              <a:spcAft>
                <a:spcPts val="800"/>
              </a:spcAft>
              <a:buSzPct val="100000"/>
              <a:buChar char="•"/>
            </a:pPr>
            <a:r>
              <a:rPr lang="en-US" sz="1400" dirty="0">
                <a:solidFill>
                  <a:schemeClr val="tx2"/>
                </a:solidFill>
              </a:rPr>
              <a:t>Leaves the charts to the viewer</a:t>
            </a:r>
            <a:endParaRPr lang="en-US" sz="1400" dirty="0"/>
          </a:p>
          <a:p>
            <a:pPr marL="342900" indent="-342900">
              <a:spcAft>
                <a:spcPts val="800"/>
              </a:spcAft>
              <a:buSzPct val="100000"/>
              <a:buChar char="•"/>
            </a:pPr>
            <a:r>
              <a:rPr lang="en-US" sz="1400" dirty="0">
                <a:solidFill>
                  <a:schemeClr val="tx2"/>
                </a:solidFill>
              </a:rPr>
              <a:t>Output is a view</a:t>
            </a:r>
            <a:endParaRPr lang="en-US" sz="1400" dirty="0"/>
          </a:p>
        </p:txBody>
      </p:sp>
      <p:sp>
        <p:nvSpPr>
          <p:cNvPr id="7" name="Text 5"/>
          <p:cNvSpPr txBox="1"/>
          <p:nvPr/>
        </p:nvSpPr>
        <p:spPr>
          <a:xfrm>
            <a:off x="4892040" y="1554480"/>
            <a:ext cx="3474720" cy="365760"/>
          </a:xfrm>
          <a:prstGeom prst="rect">
            <a:avLst/>
          </a:prstGeom>
          <a:noFill/>
          <a:ln/>
        </p:spPr>
        <p:txBody>
          <a:bodyPr wrap="square" lIns="0" tIns="0" rIns="0" bIns="0" rtlCol="0" anchor="ctr"/>
          <a:lstStyle/>
          <a:p>
            <a:pPr indent="0" marL="0">
              <a:buNone/>
            </a:pPr>
            <a:r>
              <a:rPr lang="en-US" sz="2000" b="1" dirty="0">
                <a:solidFill>
                  <a:schemeClr val="accent1"/>
                </a:solidFill>
              </a:rPr>
              <a:t>FasalProof</a:t>
            </a:r>
            <a:endParaRPr lang="en-US" sz="2000" dirty="0"/>
          </a:p>
        </p:txBody>
      </p:sp>
      <p:sp>
        <p:nvSpPr>
          <p:cNvPr id="8" name="Text 6"/>
          <p:cNvSpPr txBox="1"/>
          <p:nvPr/>
        </p:nvSpPr>
        <p:spPr>
          <a:xfrm>
            <a:off x="4892040" y="2057400"/>
            <a:ext cx="34747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Starts from one plot and one loss date</a:t>
            </a:r>
            <a:endParaRPr lang="en-US" sz="1400" dirty="0"/>
          </a:p>
          <a:p>
            <a:pPr marL="342900" indent="-342900">
              <a:spcAft>
                <a:spcPts val="800"/>
              </a:spcAft>
              <a:buSzPct val="100000"/>
              <a:buChar char="•"/>
            </a:pPr>
            <a:r>
              <a:rPr lang="en-US" sz="1400" dirty="0">
                <a:solidFill>
                  <a:schemeClr val="bg1"/>
                </a:solidFill>
              </a:rPr>
              <a:t>Asks: was this field damaged, by how much, how sure are we?</a:t>
            </a:r>
            <a:endParaRPr lang="en-US" sz="1400" dirty="0"/>
          </a:p>
          <a:p>
            <a:pPr marL="342900" indent="-342900">
              <a:spcAft>
                <a:spcPts val="800"/>
              </a:spcAft>
              <a:buSzPct val="100000"/>
              <a:buChar char="•"/>
            </a:pPr>
            <a:r>
              <a:rPr lang="en-US" sz="1400" dirty="0">
                <a:solidFill>
                  <a:schemeClr val="bg1"/>
                </a:solidFill>
              </a:rPr>
              <a:t>Adds local rain history, crop stage, claim route and deadline</a:t>
            </a:r>
            <a:endParaRPr lang="en-US" sz="1400" dirty="0"/>
          </a:p>
          <a:p>
            <a:pPr marL="342900" indent="-342900">
              <a:spcAft>
                <a:spcPts val="800"/>
              </a:spcAft>
              <a:buSzPct val="100000"/>
              <a:buChar char="•"/>
            </a:pPr>
            <a:r>
              <a:rPr lang="en-US" sz="1400" dirty="0">
                <a:solidFill>
                  <a:schemeClr val="bg1"/>
                </a:solidFill>
              </a:rPr>
              <a:t>Output is a signed evidence pack and a claim letter</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046720" cy="731520"/>
          </a:xfrm>
          <a:prstGeom prst="rect">
            <a:avLst/>
          </a:prstGeom>
          <a:noFill/>
          <a:ln/>
        </p:spPr>
        <p:txBody>
          <a:bodyPr wrap="square" lIns="0" tIns="0" rIns="0" bIns="0" rtlCol="0" anchor="t"/>
          <a:lstStyle/>
          <a:p>
            <a:pPr algn="l" indent="0" marL="0">
              <a:buNone/>
            </a:pPr>
            <a:r>
              <a:rPr lang="en-US" sz="3600" b="1" dirty="0">
                <a:solidFill>
                  <a:schemeClr val="tx1"/>
                </a:solidFill>
              </a:rPr>
              <a:t>Honest by design</a:t>
            </a:r>
            <a:endParaRPr lang="en-US" sz="3600" dirty="0"/>
          </a:p>
        </p:txBody>
      </p:sp>
      <p:sp>
        <p:nvSpPr>
          <p:cNvPr id="3" name="Limits card"/>
          <p:cNvSpPr/>
          <p:nvPr/>
        </p:nvSpPr>
        <p:spPr>
          <a:xfrm>
            <a:off x="548640" y="1371600"/>
            <a:ext cx="3931920" cy="3108960"/>
          </a:xfrm>
          <a:prstGeom prst="roundRect">
            <a:avLst>
              <a:gd name="adj" fmla="val 3529"/>
            </a:avLst>
          </a:prstGeom>
          <a:solidFill>
            <a:schemeClr val="bg2"/>
          </a:solidFill>
          <a:ln w="12700">
            <a:solidFill>
              <a:schemeClr val="bg2"/>
            </a:solidFill>
            <a:prstDash val="solid"/>
          </a:ln>
        </p:spPr>
      </p:sp>
      <p:sp>
        <p:nvSpPr>
          <p:cNvPr id="4" name="Validation card"/>
          <p:cNvSpPr/>
          <p:nvPr/>
        </p:nvSpPr>
        <p:spPr>
          <a:xfrm>
            <a:off x="4663440" y="1371600"/>
            <a:ext cx="3931920" cy="3108960"/>
          </a:xfrm>
          <a:prstGeom prst="roundRect">
            <a:avLst>
              <a:gd name="adj" fmla="val 3529"/>
            </a:avLst>
          </a:prstGeom>
          <a:solidFill>
            <a:schemeClr val="bg2"/>
          </a:solidFill>
          <a:ln w="12700">
            <a:solidFill>
              <a:schemeClr val="bg2"/>
            </a:solidFill>
            <a:prstDash val="solid"/>
          </a:ln>
        </p:spPr>
      </p:sp>
      <p:sp>
        <p:nvSpPr>
          <p:cNvPr id="5" name="Text 3"/>
          <p:cNvSpPr txBox="1"/>
          <p:nvPr/>
        </p:nvSpPr>
        <p:spPr>
          <a:xfrm>
            <a:off x="777240" y="1554480"/>
            <a:ext cx="3474720" cy="365760"/>
          </a:xfrm>
          <a:prstGeom prst="rect">
            <a:avLst/>
          </a:prstGeom>
          <a:noFill/>
          <a:ln/>
        </p:spPr>
        <p:txBody>
          <a:bodyPr wrap="square" lIns="0" tIns="0" rIns="0" bIns="0" rtlCol="0" anchor="ctr"/>
          <a:lstStyle/>
          <a:p>
            <a:pPr indent="0" marL="0">
              <a:buNone/>
            </a:pPr>
            <a:r>
              <a:rPr lang="en-US" sz="2000" b="1" dirty="0">
                <a:solidFill>
                  <a:schemeClr val="tx1"/>
                </a:solidFill>
              </a:rPr>
              <a:t>Limits we show on screen</a:t>
            </a:r>
            <a:endParaRPr lang="en-US" sz="2000" dirty="0"/>
          </a:p>
        </p:txBody>
      </p:sp>
      <p:sp>
        <p:nvSpPr>
          <p:cNvPr id="6" name="Text 4"/>
          <p:cNvSpPr txBox="1"/>
          <p:nvPr/>
        </p:nvSpPr>
        <p:spPr>
          <a:xfrm>
            <a:off x="777240" y="2011680"/>
            <a:ext cx="34747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Supporting evidence, not an official assessment</a:t>
            </a:r>
            <a:endParaRPr lang="en-US" sz="1400" dirty="0"/>
          </a:p>
          <a:p>
            <a:pPr marL="342900" indent="-342900">
              <a:spcAft>
                <a:spcPts val="800"/>
              </a:spcAft>
              <a:buSzPct val="100000"/>
              <a:buChar char="•"/>
            </a:pPr>
            <a:r>
              <a:rPr lang="en-US" sz="1400" dirty="0">
                <a:solidFill>
                  <a:schemeClr val="tx2"/>
                </a:solidFill>
              </a:rPr>
              <a:t>No accuracy figure claimed yet</a:t>
            </a:r>
            <a:endParaRPr lang="en-US" sz="1400" dirty="0"/>
          </a:p>
          <a:p>
            <a:pPr marL="342900" indent="-342900">
              <a:spcAft>
                <a:spcPts val="800"/>
              </a:spcAft>
              <a:buSzPct val="100000"/>
              <a:buChar char="•"/>
            </a:pPr>
            <a:r>
              <a:rPr lang="en-US" sz="1400" dirty="0">
                <a:solidFill>
                  <a:schemeClr val="tx2"/>
                </a:solidFill>
              </a:rPr>
              <a:t>Stage data are regional averages</a:t>
            </a:r>
            <a:endParaRPr lang="en-US" sz="1400" dirty="0"/>
          </a:p>
          <a:p>
            <a:pPr marL="342900" indent="-342900">
              <a:spcAft>
                <a:spcPts val="800"/>
              </a:spcAft>
              <a:buSzPct val="100000"/>
              <a:buChar char="•"/>
            </a:pPr>
            <a:r>
              <a:rPr lang="en-US" sz="1400" dirty="0">
                <a:solidFill>
                  <a:schemeClr val="tx2"/>
                </a:solidFill>
              </a:rPr>
              <a:t>Rules and sum insured come from the policy</a:t>
            </a:r>
            <a:endParaRPr lang="en-US" sz="1400" dirty="0"/>
          </a:p>
        </p:txBody>
      </p:sp>
      <p:sp>
        <p:nvSpPr>
          <p:cNvPr id="7" name="Text 5"/>
          <p:cNvSpPr txBox="1"/>
          <p:nvPr/>
        </p:nvSpPr>
        <p:spPr>
          <a:xfrm>
            <a:off x="4892040" y="1554480"/>
            <a:ext cx="3474720" cy="365760"/>
          </a:xfrm>
          <a:prstGeom prst="rect">
            <a:avLst/>
          </a:prstGeom>
          <a:noFill/>
          <a:ln/>
        </p:spPr>
        <p:txBody>
          <a:bodyPr wrap="square" lIns="0" tIns="0" rIns="0" bIns="0" rtlCol="0" anchor="ctr"/>
          <a:lstStyle/>
          <a:p>
            <a:pPr indent="0" marL="0">
              <a:buNone/>
            </a:pPr>
            <a:r>
              <a:rPr lang="en-US" sz="2000" b="1" dirty="0">
                <a:solidFill>
                  <a:schemeClr val="tx1"/>
                </a:solidFill>
              </a:rPr>
              <a:t>How we will validate</a:t>
            </a:r>
            <a:endParaRPr lang="en-US" sz="2000" dirty="0"/>
          </a:p>
        </p:txBody>
      </p:sp>
      <p:sp>
        <p:nvSpPr>
          <p:cNvPr id="8" name="Text 6"/>
          <p:cNvSpPr txBox="1"/>
          <p:nvPr/>
        </p:nvSpPr>
        <p:spPr>
          <a:xfrm>
            <a:off x="4892040" y="2011680"/>
            <a:ext cx="34747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Documented damaged fields plus no-event fields</a:t>
            </a:r>
            <a:endParaRPr lang="en-US" sz="1400" dirty="0"/>
          </a:p>
          <a:p>
            <a:pPr marL="342900" indent="-342900">
              <a:spcAft>
                <a:spcPts val="800"/>
              </a:spcAft>
              <a:buSzPct val="100000"/>
              <a:buChar char="•"/>
            </a:pPr>
            <a:r>
              <a:rPr lang="en-US" sz="1400" dirty="0">
                <a:solidFill>
                  <a:schemeClr val="tx2"/>
                </a:solidFill>
              </a:rPr>
              <a:t>Precision, recall and specificity</a:t>
            </a:r>
            <a:endParaRPr lang="en-US" sz="1400" dirty="0"/>
          </a:p>
          <a:p>
            <a:pPr marL="342900" indent="-342900">
              <a:spcAft>
                <a:spcPts val="800"/>
              </a:spcAft>
              <a:buSzPct val="100000"/>
              <a:buChar char="•"/>
            </a:pPr>
            <a:r>
              <a:rPr lang="en-US" sz="1400" dirty="0">
                <a:solidFill>
                  <a:schemeClr val="tx2"/>
                </a:solidFill>
              </a:rPr>
              <a:t>Error against officially reported loss</a:t>
            </a:r>
            <a:endParaRPr lang="en-US" sz="1400" dirty="0"/>
          </a:p>
          <a:p>
            <a:pPr marL="342900" indent="-342900">
              <a:spcAft>
                <a:spcPts val="800"/>
              </a:spcAft>
              <a:buSzPct val="100000"/>
              <a:buChar char="•"/>
            </a:pPr>
            <a:r>
              <a:rPr lang="en-US" sz="1400" dirty="0">
                <a:solidFill>
                  <a:schemeClr val="tx2"/>
                </a:solidFill>
              </a:rPr>
              <a:t>Results published in the README</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5303520" cy="1371600"/>
          </a:xfrm>
          <a:prstGeom prst="rect">
            <a:avLst/>
          </a:prstGeom>
          <a:noFill/>
          <a:ln/>
        </p:spPr>
        <p:txBody>
          <a:bodyPr wrap="square" lIns="0" tIns="0" rIns="0" bIns="0" rtlCol="0" anchor="t"/>
          <a:lstStyle/>
          <a:p>
            <a:pPr algn="l" indent="0" marL="0">
              <a:buNone/>
            </a:pPr>
            <a:r>
              <a:rPr lang="en-US" sz="4000" b="1" dirty="0">
                <a:solidFill>
                  <a:schemeClr val="bg1"/>
                </a:solidFill>
              </a:rPr>
              <a:t>From evidence to claim in minutes</a:t>
            </a:r>
            <a:endParaRPr lang="en-US" sz="4000" dirty="0"/>
          </a:p>
        </p:txBody>
      </p:sp>
      <p:sp>
        <p:nvSpPr>
          <p:cNvPr id="3" name="Text 0"/>
          <p:cNvSpPr/>
          <p:nvPr>
            <p:ph idx="101" type="body" hasCustomPrompt="1"/>
          </p:nvPr>
        </p:nvSpPr>
        <p:spPr>
          <a:xfrm>
            <a:off x="548640" y="2743200"/>
            <a:ext cx="5303520" cy="548640"/>
          </a:xfrm>
          <a:prstGeom prst="rect">
            <a:avLst/>
          </a:prstGeom>
          <a:noFill/>
          <a:ln/>
        </p:spPr>
        <p:txBody>
          <a:bodyPr wrap="square" lIns="0" tIns="0" rIns="0" bIns="0" rtlCol="0"/>
          <a:lstStyle/>
          <a:p>
            <a:pPr algn="l" indent="0" marL="0">
              <a:buNone/>
            </a:pPr>
            <a:r>
              <a:rPr lang="en-US" sz="1800" dirty="0">
                <a:solidFill>
                  <a:schemeClr val="bg2"/>
                </a:solidFill>
              </a:rPr>
              <a:t>Try it now</a:t>
            </a:r>
            <a:endParaRPr lang="en-US" sz="1800" dirty="0"/>
          </a:p>
        </p:txBody>
      </p:sp>
      <p:sp>
        <p:nvSpPr>
          <p:cNvPr id="4" name="Text 2">
            <a:hlinkClick r:id="rId1" tooltip=""/>
          </p:cNvPr>
          <p:cNvSpPr txBox="1"/>
          <p:nvPr/>
        </p:nvSpPr>
        <p:spPr>
          <a:xfrm>
            <a:off x="548640" y="3291840"/>
            <a:ext cx="5486400" cy="411480"/>
          </a:xfrm>
          <a:prstGeom prst="rect">
            <a:avLst/>
          </a:prstGeom>
          <a:noFill/>
          <a:ln/>
        </p:spPr>
        <p:txBody>
          <a:bodyPr wrap="square" lIns="0" tIns="0" rIns="0" bIns="0" rtlCol="0" anchor="ctr"/>
          <a:lstStyle/>
          <a:p>
            <a:pPr indent="0" marL="0">
              <a:buNone/>
            </a:pPr>
            <a:r>
              <a:rPr lang="en-US" sz="2000" b="1"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shahaadi2025-bit.github.io/fasalproof</a:t>
            </a:r>
            <a:endParaRPr lang="en-US" sz="2000" dirty="0"/>
          </a:p>
        </p:txBody>
      </p:sp>
      <p:sp>
        <p:nvSpPr>
          <p:cNvPr id="5" name="Text 3"/>
          <p:cNvSpPr txBox="1"/>
          <p:nvPr/>
        </p:nvSpPr>
        <p:spPr>
          <a:xfrm>
            <a:off x="548640" y="3886200"/>
            <a:ext cx="5303520" cy="731520"/>
          </a:xfrm>
          <a:prstGeom prst="rect">
            <a:avLst/>
          </a:prstGeom>
          <a:noFill/>
          <a:ln/>
        </p:spPr>
        <p:txBody>
          <a:bodyPr wrap="square" lIns="0" tIns="0" rIns="0" bIns="0" rtlCol="0" anchor="t"/>
          <a:lstStyle/>
          <a:p>
            <a:pPr indent="0" marL="0">
              <a:buNone/>
            </a:pPr>
            <a:r>
              <a:rPr lang="en-US" sz="1400" dirty="0">
                <a:solidFill>
                  <a:schemeClr val="bg2"/>
                </a:solidFill>
              </a:rPr>
              <a:t>Next: validation on documented events, land-record boundaries, WhatsApp and SMS access, insurer integration.</a:t>
            </a:r>
            <a:endParaRPr lang="en-US" sz="1400" dirty="0"/>
          </a:p>
        </p:txBody>
      </p:sp>
      <p:sp>
        <p:nvSpPr>
          <p:cNvPr id="6" name="Globe"/>
          <p:cNvSpPr/>
          <p:nvPr/>
        </p:nvSpPr>
        <p:spPr>
          <a:xfrm>
            <a:off x="6400800" y="1097280"/>
            <a:ext cx="2194560" cy="2194560"/>
          </a:xfrm>
          <a:prstGeom prst="ellipse">
            <a:avLst/>
          </a:prstGeom>
          <a:solidFill>
            <a:schemeClr val="accent6"/>
          </a:solidFill>
          <a:ln w="25400">
            <a:solidFill>
              <a:schemeClr val="accent1"/>
            </a:solidFill>
            <a:prstDash val="solid"/>
          </a:ln>
        </p:spPr>
      </p:sp>
      <p:pic>
        <p:nvPicPr>
          <p:cNvPr id="7" name="Globe icon" descr="globe">    </p:cNvPr>
          <p:cNvPicPr>
            <a:picLocks noChangeAspect="1"/>
          </p:cNvPicPr>
          <p:nvPr/>
        </p:nvPicPr>
        <p:blipFill>
          <a:blip r:embed="rId2"/>
          <a:stretch>
            <a:fillRect/>
          </a:stretch>
        </p:blipFill>
        <p:spPr>
          <a:xfrm>
            <a:off x="6949440" y="1645920"/>
            <a:ext cx="1097280" cy="1097280"/>
          </a:xfrm>
          <a:prstGeom prst="rect">
            <a:avLst/>
          </a:prstGeom>
        </p:spPr>
      </p:pic>
    </p:spTree>
  </p:cSld>
  <p:clrMapOvr>
    <a:masterClrMapping/>
  </p:clrMapOvr>
</p:sld>
</file>

<file path=ppt/theme/theme1.xml><?xml version="1.0" encoding="utf-8"?>
<a:theme xmlns:a="http://schemas.openxmlformats.org/drawingml/2006/main" name="FasalProof">
  <a:themeElements>
    <a:clrScheme name="FasalProof">
      <a:dk1>
        <a:srgbClr val="0B1020"/>
      </a:dk1>
      <a:lt1>
        <a:srgbClr val="FFFFFF"/>
      </a:lt1>
      <a:dk2>
        <a:srgbClr val="1B2A4A"/>
      </a:dk2>
      <a:lt2>
        <a:srgbClr val="EAF2FF"/>
      </a:lt2>
      <a:accent1>
        <a:srgbClr val="22D3EE"/>
      </a:accent1>
      <a:accent2>
        <a:srgbClr val="818CF8"/>
      </a:accent2>
      <a:accent3>
        <a:srgbClr val="22C55E"/>
      </a:accent3>
      <a:accent4>
        <a:srgbClr val="F59E0B"/>
      </a:accent4>
      <a:accent5>
        <a:srgbClr val="F472B6"/>
      </a:accent5>
      <a:accent6>
        <a:srgbClr val="0E7490"/>
      </a:accent6>
      <a:hlink>
        <a:srgbClr val="22D3EE"/>
      </a:hlink>
      <a:folHlink>
        <a:srgbClr val="818CF8"/>
      </a:folHlink>
    </a:clrScheme>
    <a:fontScheme name="FasalProof">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FasalProof pitch</dc:title>
  <dc:subject>PptxGenJS Presentation</dc:subject>
  <dc:creator>FasalProof team</dc:creator>
  <cp:lastModifiedBy>FasalProof team</cp:lastModifiedBy>
  <cp:revision>1</cp:revision>
  <dcterms:created xsi:type="dcterms:W3CDTF">2026-10-10T04:54:15Z</dcterms:created>
  <dcterms:modified xsi:type="dcterms:W3CDTF">2026-10-10T04:54:15Z</dcterms:modified>
</cp:coreProperties>
</file>